
<file path=[Content_Types].xml><?xml version="1.0" encoding="utf-8"?>
<Types xmlns="http://schemas.openxmlformats.org/package/2006/content-types">
  <Default Extension="bin" ContentType="image/png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2.bin" ContentType="image/jpeg"/>
  <Override PartName="/ppt/media/image14.bin" ContentType="image/jpeg"/>
  <Override PartName="/ppt/media/image17.bin" ContentType="image/jpeg"/>
  <Override PartName="/ppt/media/image18.bin" ContentType="image/jpeg"/>
  <Override PartName="/ppt/media/image20.bin" ContentType="image/jpeg"/>
  <Override PartName="/ppt/media/image36.bin" ContentType="image/jpeg"/>
  <Override PartName="/ppt/media/image41.bin" ContentType="image/jpeg"/>
  <Override PartName="/ppt/media/image42.bin" ContentType="image/jpeg"/>
  <Override PartName="/ppt/media/image44.bin" ContentType="image/jpeg"/>
  <Override PartName="/ppt/media/image75.bin" ContentType="image/jpeg"/>
  <Override PartName="/ppt/media/image78.bin" ContentType="image/jpeg"/>
  <Override PartName="/ppt/media/image81.bin" ContentType="image/jpeg"/>
  <Override PartName="/ppt/media/image86.bin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34.bin" ContentType="image/svg+xml"/>
  <Override PartName="/ppt/media/image8.bin" ContentType="image/svg+xml"/>
  <Override PartName="/ppt/media/image10.bin" ContentType="image/svg+xml"/>
  <Override PartName="/ppt/media/image30.bin" ContentType="image/svg+xml"/>
  <Override PartName="/ppt/media/image32.bin" ContentType="image/svg+xml"/>
  <Override PartName="/ppt/media/image43.bin" ContentType="image/svg+xml"/>
  <Override PartName="/ppt/media/image118.bin" ContentType="image/svg+xml"/>
  <Override PartName="/ppt/media/image120.bin" ContentType="image/svg+xml"/>
  <Override PartName="/ppt/media/image65.bin" ContentType="image/svg+xml"/>
  <Override PartName="/ppt/media/image67.bin" ContentType="image/svg+xml"/>
  <Override PartName="/ppt/media/image71.bin" ContentType="image/svg+xml"/>
  <Override PartName="/ppt/media/image74.bin" ContentType="image/svg+xml"/>
  <Override PartName="/ppt/media/image77.bin" ContentType="image/svg+xml"/>
  <Override PartName="/ppt/media/image80.bin" ContentType="image/svg+xml"/>
  <Override PartName="/ppt/media/image139.bin" ContentType="image/svg+xml"/>
  <Override PartName="/ppt/media/image142.bin" ContentType="image/svg+xml"/>
  <Override PartName="/ppt/media/image145.bin" ContentType="image/svg+xml"/>
  <Override PartName="/ppt/media/image103.bin" ContentType="image/svg+xml"/>
  <Override PartName="/ppt/media/image105.bin" ContentType="image/svg+xml"/>
  <Override PartName="/ppt/media/image89.bin" ContentType="image/svg+xml"/>
  <Override PartName="/ppt/media/image161.bin" ContentType="image/svg+xml"/>
  <Override PartName="/ppt/media/image165.bin" ContentType="image/sv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301" r:id="rId2"/>
    <p:sldId id="314" r:id="rId3"/>
    <p:sldId id="381" r:id="rId4"/>
    <p:sldId id="454" r:id="rId5"/>
    <p:sldId id="503" r:id="rId6"/>
    <p:sldId id="678" r:id="rId7"/>
    <p:sldId id="824" r:id="rId8"/>
    <p:sldId id="544" r:id="rId9"/>
    <p:sldId id="735" r:id="rId10"/>
    <p:sldId id="629" r:id="rId11"/>
    <p:sldId id="823" r:id="rId12"/>
  </p:sldIdLst>
  <p:sldSz cx="18288000" cy="10287000"/>
  <p:notesSz cx="18288000" cy="10287000"/>
  <p:embeddedFontLst>
    <p:embeddedFont>
      <p:font typeface="Arial Rounded MT Bold" panose="020F0704030504030204" pitchFamily="34" charset="0"/>
      <p:regular r:id="rId13"/>
    </p:embeddedFont>
    <p:embeddedFont>
      <p:font typeface="IBM Plex Sans" panose="020B0503050203000203" pitchFamily="34" charset="0"/>
      <p:regular r:id="rId14"/>
      <p:bold r:id="rId15"/>
      <p:italic r:id="rId16"/>
      <p:boldItalic r:id="rId17"/>
    </p:embeddedFont>
    <p:embeddedFont>
      <p:font typeface="IBM Plex Serif SemiBold" panose="02060703050406000203" pitchFamily="18" charset="0"/>
      <p:regular r:id="rId18"/>
      <p:bold r:id="rId19"/>
      <p:boldItalic r:id="rId20"/>
    </p:embeddedFont>
    <p:embeddedFont>
      <p:font typeface="Noto Serif SemiBold" panose="020B0604020202020204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4FF"/>
    <a:srgbClr val="EC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bin"/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34" Type="http://schemas.openxmlformats.org/officeDocument/2006/relationships/image" Target="../media/image16.bin"/><Relationship Id="rId25" Type="http://schemas.openxmlformats.org/officeDocument/2006/relationships/image" Target="../media/image7.bin"/><Relationship Id="rId33" Type="http://schemas.openxmlformats.org/officeDocument/2006/relationships/image" Target="../media/image15.bin"/><Relationship Id="rId38" Type="http://schemas.openxmlformats.org/officeDocument/2006/relationships/image" Target="../media/image20.bin"/><Relationship Id="rId2" Type="http://schemas.openxmlformats.org/officeDocument/2006/relationships/image" Target="../media/image1.bin"/><Relationship Id="rId29" Type="http://schemas.openxmlformats.org/officeDocument/2006/relationships/image" Target="../media/image11.bin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8.bin"/><Relationship Id="rId32" Type="http://schemas.openxmlformats.org/officeDocument/2006/relationships/image" Target="../media/image14.bin"/><Relationship Id="rId37" Type="http://schemas.openxmlformats.org/officeDocument/2006/relationships/image" Target="../media/image19.bin"/><Relationship Id="rId5" Type="http://schemas.openxmlformats.org/officeDocument/2006/relationships/image" Target="../media/image6.bin"/><Relationship Id="rId28" Type="http://schemas.openxmlformats.org/officeDocument/2006/relationships/image" Target="../media/image9.bin"/><Relationship Id="rId36" Type="http://schemas.openxmlformats.org/officeDocument/2006/relationships/image" Target="../media/image18.bin"/><Relationship Id="rId31" Type="http://schemas.openxmlformats.org/officeDocument/2006/relationships/image" Target="../media/image13.bin"/><Relationship Id="rId4" Type="http://schemas.openxmlformats.org/officeDocument/2006/relationships/image" Target="../media/image5.bin"/><Relationship Id="rId27" Type="http://schemas.openxmlformats.org/officeDocument/2006/relationships/image" Target="../media/image10.bin"/><Relationship Id="rId30" Type="http://schemas.openxmlformats.org/officeDocument/2006/relationships/image" Target="../media/image12.bin"/><Relationship Id="rId35" Type="http://schemas.openxmlformats.org/officeDocument/2006/relationships/image" Target="../media/image17.bin"/></Relationships>
</file>

<file path=ppt/slides/_rels/slide3.xml.rels><?xml version="1.0" encoding="UTF-8" standalone="yes"?>
<Relationships xmlns="http://schemas.openxmlformats.org/package/2006/relationships"><Relationship Id="rId72" Type="http://schemas.openxmlformats.org/officeDocument/2006/relationships/image" Target="../media/image21.bin"/><Relationship Id="rId3" Type="http://schemas.openxmlformats.org/officeDocument/2006/relationships/image" Target="../media/image5.bin"/><Relationship Id="rId68" Type="http://schemas.openxmlformats.org/officeDocument/2006/relationships/image" Target="../media/image30.bin"/><Relationship Id="rId76" Type="http://schemas.openxmlformats.org/officeDocument/2006/relationships/image" Target="../media/image25.bin"/><Relationship Id="rId71" Type="http://schemas.openxmlformats.org/officeDocument/2006/relationships/image" Target="../media/image32.bin"/><Relationship Id="rId2" Type="http://schemas.openxmlformats.org/officeDocument/2006/relationships/image" Target="../media/image1.bin"/><Relationship Id="rId75" Type="http://schemas.openxmlformats.org/officeDocument/2006/relationships/image" Target="../media/image24.bin"/><Relationship Id="rId1" Type="http://schemas.openxmlformats.org/officeDocument/2006/relationships/slideLayout" Target="../slideLayouts/slideLayout7.xml"/><Relationship Id="rId74" Type="http://schemas.openxmlformats.org/officeDocument/2006/relationships/image" Target="../media/image23.bin"/><Relationship Id="rId5" Type="http://schemas.openxmlformats.org/officeDocument/2006/relationships/image" Target="../media/image6.bin"/><Relationship Id="rId73" Type="http://schemas.openxmlformats.org/officeDocument/2006/relationships/image" Target="../media/image22.bin"/><Relationship Id="rId4" Type="http://schemas.openxmlformats.org/officeDocument/2006/relationships/image" Target="../media/image4.bin"/><Relationship Id="rId69" Type="http://schemas.openxmlformats.org/officeDocument/2006/relationships/image" Target="../media/image7.bin"/><Relationship Id="rId77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98" Type="http://schemas.openxmlformats.org/officeDocument/2006/relationships/image" Target="../media/image34.png"/><Relationship Id="rId3" Type="http://schemas.openxmlformats.org/officeDocument/2006/relationships/image" Target="../media/image27.bin"/><Relationship Id="rId97" Type="http://schemas.openxmlformats.org/officeDocument/2006/relationships/image" Target="../media/image33.bin"/><Relationship Id="rId2" Type="http://schemas.openxmlformats.org/officeDocument/2006/relationships/image" Target="../media/image1.bin"/><Relationship Id="rId96" Type="http://schemas.openxmlformats.org/officeDocument/2006/relationships/image" Target="../media/image31.bin"/><Relationship Id="rId1" Type="http://schemas.openxmlformats.org/officeDocument/2006/relationships/slideLayout" Target="../slideLayouts/slideLayout7.xml"/><Relationship Id="rId95" Type="http://schemas.openxmlformats.org/officeDocument/2006/relationships/image" Target="../media/image29.bin"/><Relationship Id="rId94" Type="http://schemas.openxmlformats.org/officeDocument/2006/relationships/image" Target="../media/image43.bin"/><Relationship Id="rId99" Type="http://schemas.openxmlformats.org/officeDocument/2006/relationships/image" Target="../media/image26.png"/><Relationship Id="rId4" Type="http://schemas.openxmlformats.org/officeDocument/2006/relationships/image" Target="../media/image2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bin"/><Relationship Id="rId7" Type="http://schemas.openxmlformats.org/officeDocument/2006/relationships/image" Target="../media/image38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bin"/><Relationship Id="rId5" Type="http://schemas.openxmlformats.org/officeDocument/2006/relationships/image" Target="../media/image36.bin"/><Relationship Id="rId4" Type="http://schemas.openxmlformats.org/officeDocument/2006/relationships/image" Target="../media/image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43" Type="http://schemas.openxmlformats.org/officeDocument/2006/relationships/image" Target="../media/image40.bin"/><Relationship Id="rId239" Type="http://schemas.openxmlformats.org/officeDocument/2006/relationships/image" Target="../media/image118.bin"/><Relationship Id="rId247" Type="http://schemas.openxmlformats.org/officeDocument/2006/relationships/image" Target="../media/image45.jpg"/><Relationship Id="rId2" Type="http://schemas.openxmlformats.org/officeDocument/2006/relationships/image" Target="../media/image1.bin"/><Relationship Id="rId242" Type="http://schemas.openxmlformats.org/officeDocument/2006/relationships/image" Target="../media/image120.bin"/><Relationship Id="rId1" Type="http://schemas.openxmlformats.org/officeDocument/2006/relationships/slideLayout" Target="../slideLayouts/slideLayout7.xml"/><Relationship Id="rId246" Type="http://schemas.openxmlformats.org/officeDocument/2006/relationships/image" Target="../media/image44.bin"/><Relationship Id="rId5" Type="http://schemas.openxmlformats.org/officeDocument/2006/relationships/image" Target="../media/image6.bin"/><Relationship Id="rId240" Type="http://schemas.openxmlformats.org/officeDocument/2006/relationships/image" Target="../media/image7.bin"/><Relationship Id="rId245" Type="http://schemas.openxmlformats.org/officeDocument/2006/relationships/image" Target="../media/image42.bin"/><Relationship Id="rId4" Type="http://schemas.openxmlformats.org/officeDocument/2006/relationships/image" Target="../media/image5.bin"/><Relationship Id="rId244" Type="http://schemas.openxmlformats.org/officeDocument/2006/relationships/image" Target="../media/image4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43" Type="http://schemas.openxmlformats.org/officeDocument/2006/relationships/image" Target="../media/image46.jpg"/><Relationship Id="rId239" Type="http://schemas.openxmlformats.org/officeDocument/2006/relationships/image" Target="../media/image118.bin"/><Relationship Id="rId2" Type="http://schemas.openxmlformats.org/officeDocument/2006/relationships/image" Target="../media/image1.bin"/><Relationship Id="rId242" Type="http://schemas.openxmlformats.org/officeDocument/2006/relationships/image" Target="../media/image44.bin"/><Relationship Id="rId1" Type="http://schemas.openxmlformats.org/officeDocument/2006/relationships/slideLayout" Target="../slideLayouts/slideLayout7.xml"/><Relationship Id="rId241" Type="http://schemas.openxmlformats.org/officeDocument/2006/relationships/image" Target="../media/image41.bin"/><Relationship Id="rId5" Type="http://schemas.openxmlformats.org/officeDocument/2006/relationships/image" Target="../media/image6.bin"/><Relationship Id="rId240" Type="http://schemas.openxmlformats.org/officeDocument/2006/relationships/image" Target="../media/image40.bin"/><Relationship Id="rId4" Type="http://schemas.openxmlformats.org/officeDocument/2006/relationships/image" Target="../media/image5.bin"/></Relationships>
</file>

<file path=ppt/slides/_rels/slide8.xml.rels><?xml version="1.0" encoding="UTF-8" standalone="yes"?>
<Relationships xmlns="http://schemas.openxmlformats.org/package/2006/relationships"><Relationship Id="rId142" Type="http://schemas.openxmlformats.org/officeDocument/2006/relationships/image" Target="../media/image7.bin"/><Relationship Id="rId163" Type="http://schemas.openxmlformats.org/officeDocument/2006/relationships/image" Target="../media/image55.bin"/><Relationship Id="rId3" Type="http://schemas.openxmlformats.org/officeDocument/2006/relationships/image" Target="../media/image4.bin"/><Relationship Id="rId141" Type="http://schemas.openxmlformats.org/officeDocument/2006/relationships/image" Target="../media/image65.bin"/><Relationship Id="rId146" Type="http://schemas.openxmlformats.org/officeDocument/2006/relationships/image" Target="../media/image48.bin"/><Relationship Id="rId167" Type="http://schemas.openxmlformats.org/officeDocument/2006/relationships/image" Target="../media/image56.png"/><Relationship Id="rId158" Type="http://schemas.openxmlformats.org/officeDocument/2006/relationships/image" Target="../media/image53.bin"/><Relationship Id="rId162" Type="http://schemas.openxmlformats.org/officeDocument/2006/relationships/image" Target="../media/image54.bin"/><Relationship Id="rId2" Type="http://schemas.openxmlformats.org/officeDocument/2006/relationships/image" Target="../media/image1.bin"/><Relationship Id="rId145" Type="http://schemas.openxmlformats.org/officeDocument/2006/relationships/image" Target="../media/image47.bin"/><Relationship Id="rId153" Type="http://schemas.openxmlformats.org/officeDocument/2006/relationships/image" Target="../media/image51.bin"/><Relationship Id="rId161" Type="http://schemas.openxmlformats.org/officeDocument/2006/relationships/image" Target="../media/image77.bin"/><Relationship Id="rId166" Type="http://schemas.openxmlformats.org/officeDocument/2006/relationships/image" Target="../media/image80.bin"/><Relationship Id="rId1" Type="http://schemas.openxmlformats.org/officeDocument/2006/relationships/slideLayout" Target="../slideLayouts/slideLayout7.xml"/><Relationship Id="rId144" Type="http://schemas.openxmlformats.org/officeDocument/2006/relationships/image" Target="../media/image67.bin"/><Relationship Id="rId157" Type="http://schemas.openxmlformats.org/officeDocument/2006/relationships/image" Target="../media/image52.bin"/><Relationship Id="rId5" Type="http://schemas.openxmlformats.org/officeDocument/2006/relationships/image" Target="../media/image6.bin"/><Relationship Id="rId152" Type="http://schemas.openxmlformats.org/officeDocument/2006/relationships/image" Target="../media/image50.bin"/><Relationship Id="rId151" Type="http://schemas.openxmlformats.org/officeDocument/2006/relationships/image" Target="../media/image71.bin"/><Relationship Id="rId156" Type="http://schemas.openxmlformats.org/officeDocument/2006/relationships/image" Target="../media/image74.bin"/><Relationship Id="rId4" Type="http://schemas.openxmlformats.org/officeDocument/2006/relationships/image" Target="../media/image5.bin"/><Relationship Id="rId147" Type="http://schemas.openxmlformats.org/officeDocument/2006/relationships/image" Target="../media/image4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bin"/><Relationship Id="rId281" Type="http://schemas.openxmlformats.org/officeDocument/2006/relationships/image" Target="../media/image139.bin"/><Relationship Id="rId286" Type="http://schemas.openxmlformats.org/officeDocument/2006/relationships/image" Target="../media/image142.bin"/><Relationship Id="rId3" Type="http://schemas.openxmlformats.org/officeDocument/2006/relationships/image" Target="../media/image35.bin"/><Relationship Id="rId7" Type="http://schemas.openxmlformats.org/officeDocument/2006/relationships/image" Target="../media/image59.bin"/><Relationship Id="rId2" Type="http://schemas.openxmlformats.org/officeDocument/2006/relationships/image" Target="../media/image1.bin"/><Relationship Id="rId289" Type="http://schemas.openxmlformats.org/officeDocument/2006/relationships/image" Target="../media/image69.bin"/><Relationship Id="rId29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bin"/><Relationship Id="rId11" Type="http://schemas.openxmlformats.org/officeDocument/2006/relationships/image" Target="../media/image63.bin"/><Relationship Id="rId288" Type="http://schemas.openxmlformats.org/officeDocument/2006/relationships/image" Target="../media/image68.bin"/><Relationship Id="rId5" Type="http://schemas.openxmlformats.org/officeDocument/2006/relationships/image" Target="../media/image57.bin"/><Relationship Id="rId283" Type="http://schemas.openxmlformats.org/officeDocument/2006/relationships/image" Target="../media/image66.bin"/><Relationship Id="rId291" Type="http://schemas.openxmlformats.org/officeDocument/2006/relationships/image" Target="../media/image145.bin"/><Relationship Id="rId10" Type="http://schemas.openxmlformats.org/officeDocument/2006/relationships/image" Target="../media/image62.bin"/><Relationship Id="rId287" Type="http://schemas.openxmlformats.org/officeDocument/2006/relationships/image" Target="../media/image4.bin"/><Relationship Id="rId4" Type="http://schemas.openxmlformats.org/officeDocument/2006/relationships/image" Target="../media/image5.bin"/><Relationship Id="rId9" Type="http://schemas.openxmlformats.org/officeDocument/2006/relationships/image" Target="../media/image61.bin"/><Relationship Id="rId282" Type="http://schemas.openxmlformats.org/officeDocument/2006/relationships/image" Target="../media/image64.bin"/></Relationships>
</file>

<file path=ppt/slides/_rels/slide10.xml.rels><?xml version="1.0" encoding="UTF-8" standalone="yes"?>
<Relationships xmlns="http://schemas.openxmlformats.org/package/2006/relationships"><Relationship Id="rId219" Type="http://schemas.openxmlformats.org/officeDocument/2006/relationships/image" Target="../media/image81.bin"/><Relationship Id="rId3" Type="http://schemas.openxmlformats.org/officeDocument/2006/relationships/image" Target="../media/image4.bin"/><Relationship Id="rId214" Type="http://schemas.openxmlformats.org/officeDocument/2006/relationships/image" Target="../media/image73.bin"/><Relationship Id="rId222" Type="http://schemas.openxmlformats.org/officeDocument/2006/relationships/image" Target="../media/image42.bin"/><Relationship Id="rId213" Type="http://schemas.openxmlformats.org/officeDocument/2006/relationships/image" Target="../media/image72.bin"/><Relationship Id="rId218" Type="http://schemas.openxmlformats.org/officeDocument/2006/relationships/image" Target="../media/image79.bin"/><Relationship Id="rId183" Type="http://schemas.openxmlformats.org/officeDocument/2006/relationships/image" Target="../media/image89.bin"/><Relationship Id="rId2" Type="http://schemas.openxmlformats.org/officeDocument/2006/relationships/image" Target="../media/image1.bin"/><Relationship Id="rId209" Type="http://schemas.openxmlformats.org/officeDocument/2006/relationships/image" Target="../media/image103.bin"/><Relationship Id="rId217" Type="http://schemas.openxmlformats.org/officeDocument/2006/relationships/image" Target="../media/image78.bin"/><Relationship Id="rId221" Type="http://schemas.openxmlformats.org/officeDocument/2006/relationships/image" Target="../media/image44.bin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05.bin"/><Relationship Id="rId220" Type="http://schemas.openxmlformats.org/officeDocument/2006/relationships/image" Target="../media/image82.bin"/><Relationship Id="rId5" Type="http://schemas.openxmlformats.org/officeDocument/2006/relationships/image" Target="../media/image6.bin"/><Relationship Id="rId216" Type="http://schemas.openxmlformats.org/officeDocument/2006/relationships/image" Target="../media/image76.bin"/><Relationship Id="rId4" Type="http://schemas.openxmlformats.org/officeDocument/2006/relationships/image" Target="../media/image5.bin"/><Relationship Id="rId210" Type="http://schemas.openxmlformats.org/officeDocument/2006/relationships/image" Target="../media/image7.bin"/><Relationship Id="rId215" Type="http://schemas.openxmlformats.org/officeDocument/2006/relationships/image" Target="../media/image75.bin"/></Relationships>
</file>

<file path=ppt/slides/_rels/slide11.xml.rels><?xml version="1.0" encoding="UTF-8" standalone="yes"?>
<Relationships xmlns="http://schemas.openxmlformats.org/package/2006/relationships"><Relationship Id="rId329" Type="http://schemas.openxmlformats.org/officeDocument/2006/relationships/image" Target="../media/image86.bin"/><Relationship Id="rId324" Type="http://schemas.openxmlformats.org/officeDocument/2006/relationships/image" Target="../media/image161.bin"/><Relationship Id="rId328" Type="http://schemas.openxmlformats.org/officeDocument/2006/relationships/hyperlink" Target="https://hotel-revieaws.streamlit.app/" TargetMode="External"/><Relationship Id="rId2" Type="http://schemas.openxmlformats.org/officeDocument/2006/relationships/image" Target="../media/image83.bin"/><Relationship Id="rId331" Type="http://schemas.openxmlformats.org/officeDocument/2006/relationships/image" Target="../media/image165.bin"/><Relationship Id="rId1" Type="http://schemas.openxmlformats.org/officeDocument/2006/relationships/slideLayout" Target="../slideLayouts/slideLayout7.xml"/><Relationship Id="rId327" Type="http://schemas.openxmlformats.org/officeDocument/2006/relationships/hyperlink" Target="https://github.com/Itashish2876/Hotel_Review_Analyzer_Project" TargetMode="External"/><Relationship Id="rId330" Type="http://schemas.openxmlformats.org/officeDocument/2006/relationships/image" Target="../media/image87.bin"/><Relationship Id="rId326" Type="http://schemas.openxmlformats.org/officeDocument/2006/relationships/image" Target="../media/image85.bin"/><Relationship Id="rId325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5" name="layoutShapeInnerChild6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E11DE8FF-98C6-4FE3-9008-58D275F4E5F6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3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1357810" y="102840"/>
            <a:ext cx="6930185" cy="10184159"/>
          </a:xfrm>
          <a:prstGeom prst="rect">
            <a:avLst/>
          </a:prstGeom>
        </p:spPr>
      </p:pic>
      <p:sp>
        <p:nvSpPr>
          <p:cNvPr id="307" name="Awesome Presentation Title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97043" y="554202"/>
            <a:ext cx="13487400" cy="260193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Hotel Review Sentiment Analysis Project</a:t>
            </a:r>
          </a:p>
          <a:p>
            <a:pPr algn="ctr">
              <a:lnSpc>
                <a:spcPts val="7128"/>
              </a:lnSpc>
            </a:pPr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A Natural Language Processing (NLP ) Based Approach </a:t>
            </a:r>
          </a:p>
        </p:txBody>
      </p:sp>
      <p:sp>
        <p:nvSpPr>
          <p:cNvPr id="311" name="Presenter Name-43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96074" y="9513507"/>
            <a:ext cx="7362825" cy="43858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2800" b="1" spc="-54" dirty="0">
                <a:solidFill>
                  <a:srgbClr val="181C24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 – Ashish Singh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C4F94-98BE-A79F-30B4-FAA9D7A1740C}"/>
              </a:ext>
            </a:extLst>
          </p:cNvPr>
          <p:cNvSpPr txBox="1"/>
          <p:nvPr/>
        </p:nvSpPr>
        <p:spPr>
          <a:xfrm>
            <a:off x="613611" y="4680284"/>
            <a:ext cx="10214810" cy="31085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2800" b="1" dirty="0">
                <a:ln/>
                <a:latin typeface="Arial" panose="020B0604020202020204" pitchFamily="34" charset="0"/>
                <a:cs typeface="Arial" panose="020B0604020202020204" pitchFamily="34" charset="0"/>
              </a:rPr>
              <a:t>This project focuses on analyzing hotel reviews using NLP to classify them as Positive, Neutral, or Negative.</a:t>
            </a:r>
            <a:br>
              <a:rPr lang="en-US" sz="2800" b="1" dirty="0">
                <a:ln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n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By leveraging text preprocessing, TF-IDF, and machine learning, it helps automate sentiment analysis and supports better decision-making for hotel businesses. </a:t>
            </a:r>
          </a:p>
          <a:p>
            <a:endParaRPr lang="en-US" sz="2800" b="1" dirty="0">
              <a:ln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789145E-07 0.07407118 L -3.1789145E-07 -2.8936952E-06 E" pathEditMode="relative" ptsTypes="">
                                      <p:cBhvr>
                                        <p:cTn id="14" dur="12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19" dur="6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24" dur="6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/>
      <p:bldP spid="305" grpId="0"/>
      <p:bldP spid="307" grpId="0"/>
      <p:bldP spid="3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5715000" cy="5715000"/>
          </a:xfrm>
          <a:prstGeom prst="rect">
            <a:avLst/>
          </a:prstGeom>
        </p:spPr>
      </p:pic>
      <p:pic>
        <p:nvPicPr>
          <p:cNvPr id="3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0" y="-279333"/>
            <a:ext cx="18466540" cy="12643384"/>
          </a:xfrm>
          <a:prstGeom prst="rect">
            <a:avLst/>
          </a:prstGeom>
        </p:spPr>
      </p:pic>
      <p:pic>
        <p:nvPicPr>
          <p:cNvPr id="320" name="layoutShapeInnerChild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D447D3F8-93D1-453B-83F5-75E1A01F88BF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4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5963900" y="5448300"/>
            <a:ext cx="2324100" cy="4834681"/>
          </a:xfrm>
          <a:prstGeom prst="rect">
            <a:avLst/>
          </a:prstGeom>
        </p:spPr>
      </p:pic>
      <p:pic>
        <p:nvPicPr>
          <p:cNvPr id="322" name="layoutShapeInnerChild9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alphaModFix/>
            <a:extLst>
              <a:ext uri="{2D28C7F6-BB24-4A95-BEB7-42B481537082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7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514350"/>
            <a:ext cx="1947119" cy="5143500"/>
          </a:xfrm>
          <a:prstGeom prst="rect">
            <a:avLst/>
          </a:prstGeom>
        </p:spPr>
      </p:pic>
      <p:pic>
        <p:nvPicPr>
          <p:cNvPr id="3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alphaModFix/>
          </a:blip>
          <a:stretch/>
        </p:blipFill>
        <p:spPr>
          <a:xfrm>
            <a:off x="1433512" y="2508584"/>
            <a:ext cx="2943225" cy="7067550"/>
          </a:xfrm>
          <a:prstGeom prst="rect">
            <a:avLst/>
          </a:prstGeom>
        </p:spPr>
      </p:pic>
      <p:pic>
        <p:nvPicPr>
          <p:cNvPr id="3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alphaModFix/>
          </a:blip>
          <a:stretch/>
        </p:blipFill>
        <p:spPr>
          <a:xfrm>
            <a:off x="1714500" y="2819400"/>
            <a:ext cx="2333625" cy="2695575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28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0">
            <a:alphaModFix/>
          </a:blip>
          <a:stretch/>
        </p:blipFill>
        <p:spPr>
          <a:xfrm>
            <a:off x="1714500" y="2819400"/>
            <a:ext cx="2333625" cy="2695575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3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14500" y="5953125"/>
            <a:ext cx="2381250" cy="706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62"/>
              </a:lnSpc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Enhancing Guest Experience with AI</a:t>
            </a:r>
          </a:p>
        </p:txBody>
      </p:sp>
      <p:sp>
        <p:nvSpPr>
          <p:cNvPr id="33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65065" y="7195852"/>
            <a:ext cx="2569834" cy="153888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2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By analyzing reviews at scale, hotels can quickly act on feedback and improve service quality.</a:t>
            </a:r>
          </a:p>
        </p:txBody>
      </p:sp>
      <p:pic>
        <p:nvPicPr>
          <p:cNvPr id="3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/>
          </a:blip>
          <a:stretch/>
        </p:blipFill>
        <p:spPr>
          <a:xfrm>
            <a:off x="4541490" y="2514600"/>
            <a:ext cx="2943225" cy="7067550"/>
          </a:xfrm>
          <a:prstGeom prst="rect">
            <a:avLst/>
          </a:prstGeom>
        </p:spPr>
      </p:pic>
      <p:pic>
        <p:nvPicPr>
          <p:cNvPr id="3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alphaModFix/>
          </a:blip>
          <a:stretch/>
        </p:blipFill>
        <p:spPr>
          <a:xfrm>
            <a:off x="4846320" y="2819400"/>
            <a:ext cx="2333625" cy="2695575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8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2">
            <a:alphaModFix/>
          </a:blip>
          <a:stretch/>
        </p:blipFill>
        <p:spPr>
          <a:xfrm>
            <a:off x="4846320" y="2819400"/>
            <a:ext cx="2333625" cy="2695575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4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846320" y="5953125"/>
            <a:ext cx="2381250" cy="71051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62"/>
              </a:lnSpc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Smarter Booking Decisions</a:t>
            </a:r>
          </a:p>
        </p:txBody>
      </p:sp>
      <p:sp>
        <p:nvSpPr>
          <p:cNvPr id="34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846320" y="7195852"/>
            <a:ext cx="2381250" cy="153888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2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Helping customers choose hotels based on sentiment-driven summaries instead of lengthy reviews.</a:t>
            </a:r>
          </a:p>
        </p:txBody>
      </p:sp>
      <p:pic>
        <p:nvPicPr>
          <p:cNvPr id="3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alphaModFix/>
          </a:blip>
          <a:stretch/>
        </p:blipFill>
        <p:spPr>
          <a:xfrm>
            <a:off x="7673131" y="2514600"/>
            <a:ext cx="2943225" cy="7067550"/>
          </a:xfrm>
          <a:prstGeom prst="rect">
            <a:avLst/>
          </a:prstGeom>
        </p:spPr>
      </p:pic>
      <p:pic>
        <p:nvPicPr>
          <p:cNvPr id="3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alphaModFix/>
          </a:blip>
          <a:stretch/>
        </p:blipFill>
        <p:spPr>
          <a:xfrm>
            <a:off x="7978045" y="2819400"/>
            <a:ext cx="2333625" cy="2695575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50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78045" y="5953125"/>
            <a:ext cx="2381250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Bridge Between Feedback &amp; Action</a:t>
            </a:r>
          </a:p>
        </p:txBody>
      </p:sp>
      <p:sp>
        <p:nvSpPr>
          <p:cNvPr id="352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78045" y="7195852"/>
            <a:ext cx="2381250" cy="123110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2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Enables hotel managers to respond quickly to guest sentiments.</a:t>
            </a:r>
          </a:p>
        </p:txBody>
      </p:sp>
      <p:pic>
        <p:nvPicPr>
          <p:cNvPr id="3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alphaModFix/>
          </a:blip>
          <a:stretch/>
        </p:blipFill>
        <p:spPr>
          <a:xfrm>
            <a:off x="10804922" y="2514600"/>
            <a:ext cx="2943225" cy="7067550"/>
          </a:xfrm>
          <a:prstGeom prst="rect">
            <a:avLst/>
          </a:prstGeom>
        </p:spPr>
      </p:pic>
      <p:pic>
        <p:nvPicPr>
          <p:cNvPr id="3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alphaModFix/>
          </a:blip>
          <a:stretch/>
        </p:blipFill>
        <p:spPr>
          <a:xfrm>
            <a:off x="11109865" y="2819400"/>
            <a:ext cx="2333625" cy="2695575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48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5">
            <a:alphaModFix/>
          </a:blip>
          <a:stretch/>
        </p:blipFill>
        <p:spPr>
          <a:xfrm>
            <a:off x="11065118" y="2803250"/>
            <a:ext cx="2333625" cy="2695575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58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6">
            <a:alphaModFix/>
          </a:blip>
          <a:stretch/>
        </p:blipFill>
        <p:spPr>
          <a:xfrm>
            <a:off x="7964520" y="2803251"/>
            <a:ext cx="2333625" cy="2695575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6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09865" y="5953125"/>
            <a:ext cx="2381250" cy="34022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62"/>
              </a:lnSpc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Target Audience </a:t>
            </a:r>
          </a:p>
        </p:txBody>
      </p:sp>
      <p:sp>
        <p:nvSpPr>
          <p:cNvPr id="362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09865" y="6832378"/>
            <a:ext cx="2381250" cy="170309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2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Specify who will benefit from this project (e.g., hotel managers, travelers, researchers).</a:t>
            </a:r>
          </a:p>
        </p:txBody>
      </p:sp>
      <p:pic>
        <p:nvPicPr>
          <p:cNvPr id="3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alphaModFix/>
          </a:blip>
          <a:stretch/>
        </p:blipFill>
        <p:spPr>
          <a:xfrm>
            <a:off x="13936866" y="2514600"/>
            <a:ext cx="2943225" cy="7067550"/>
          </a:xfrm>
          <a:prstGeom prst="rect">
            <a:avLst/>
          </a:prstGeom>
        </p:spPr>
      </p:pic>
      <p:pic>
        <p:nvPicPr>
          <p:cNvPr id="3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alphaModFix/>
          </a:blip>
          <a:stretch/>
        </p:blipFill>
        <p:spPr>
          <a:xfrm>
            <a:off x="14241685" y="2819400"/>
            <a:ext cx="2333625" cy="2695575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68" name="image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8">
            <a:alphaModFix/>
          </a:blip>
          <a:stretch/>
        </p:blipFill>
        <p:spPr>
          <a:xfrm>
            <a:off x="14241685" y="2819400"/>
            <a:ext cx="2333625" cy="2695575"/>
          </a:xfrm>
          <a:prstGeom prst="rect">
            <a:avLst/>
          </a:prstGeom>
          <a:effectLst>
            <a:outerShdw blurRad="1143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70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41685" y="5953125"/>
            <a:ext cx="2381250" cy="733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62"/>
              </a:lnSpc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Boosting Hotel Service Quality</a:t>
            </a:r>
          </a:p>
        </p:txBody>
      </p:sp>
      <p:sp>
        <p:nvSpPr>
          <p:cNvPr id="37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41685" y="6832378"/>
            <a:ext cx="2381250" cy="170309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2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Hotels can identify areas of improvement through collective sentiment feedback.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A975B-719B-F131-6C6A-0C4437BE41C8}"/>
              </a:ext>
            </a:extLst>
          </p:cNvPr>
          <p:cNvSpPr txBox="1"/>
          <p:nvPr/>
        </p:nvSpPr>
        <p:spPr>
          <a:xfrm>
            <a:off x="5612973" y="1392327"/>
            <a:ext cx="50652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Why This Project?</a:t>
            </a:r>
          </a:p>
          <a:p>
            <a:pPr algn="ctr"/>
            <a:endParaRPr lang="en-US" sz="4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374" name="Click here to edit title-42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26771" y="557246"/>
            <a:ext cx="8837697" cy="92333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0.07407 L -1.11111E-6 4.32099E-6 " pathEditMode="relative" rAng="0" ptsTypes="AA">
                                      <p:cBhvr>
                                        <p:cTn id="14" dur="12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0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9" dur="12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24" dur="12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29" dur="1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34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39" dur="1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16667E-6 0.0463 L -4.16667E-6 -2.96296E-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72222E-6 0.04629 L -4.72222E-6 1.60494E-6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5.55556E-7 0.0463 L 5.55556E-7 -2.96296E-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1.6212464E-06 0.046296295 L -1.6212464E-06 0 E" pathEditMode="relative" ptsTypes="">
                                      <p:cBhvr>
                                        <p:cTn id="59" dur="10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1.6212464E-06 0.046296295 L -1.6212464E-06 0 E" pathEditMode="relative" ptsTypes="">
                                      <p:cBhvr>
                                        <p:cTn id="64" dur="10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1.6212464E-06 0.046296295 L -1.6212464E-06 0 E" pathEditMode="relative" ptsTypes="">
                                      <p:cBhvr>
                                        <p:cTn id="69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1.52778E-6 0.04629 L -1.52778E-6 1.60494E-6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1.9391377E-06 0.046296295 L 1.9391377E-06 0 E" pathEditMode="relative" ptsTypes="">
                                      <p:cBhvr>
                                        <p:cTn id="79" dur="10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1.9391377E-06 0.046296295 L 1.9391377E-06 0 E" pathEditMode="relative" ptsTypes="">
                                      <p:cBhvr>
                                        <p:cTn id="84" dur="10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1.9391377E-06 0.046296295 L 1.9391377E-06 0 E" pathEditMode="relative" ptsTypes="">
                                      <p:cBhvr>
                                        <p:cTn id="89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1.9391377E-06 0.046296295 L 1.9391377E-06 0 E" pathEditMode="relative" ptsTypes="">
                                      <p:cBhvr>
                                        <p:cTn id="94" dur="10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1.11111E-6 0.0463 L 1.11111E-6 7.40741E-7 " pathEditMode="relative" rAng="0" ptsTypes="AA">
                                      <p:cBhvr>
                                        <p:cTn id="99" dur="10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3.1789145E-07 0.046296295 L 3.1789145E-07 0 E" pathEditMode="relative" ptsTypes="">
                                      <p:cBhvr>
                                        <p:cTn id="104" dur="10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3.1789145E-07 0.046296295 L 3.1789145E-07 0 E" pathEditMode="relative" ptsTypes="">
                                      <p:cBhvr>
                                        <p:cTn id="109" dur="10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3.1789145E-07 0.046296295 L 3.1789145E-07 0 E" pathEditMode="relative" ptsTypes="">
                                      <p:cBhvr>
                                        <p:cTn id="114" dur="10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3.1789145E-07 0.046296295 L 3.1789145E-07 0 E" pathEditMode="relative" ptsTypes="">
                                      <p:cBhvr>
                                        <p:cTn id="119" dur="10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5.55556E-7 0.0463 L 5.55556E-7 -3.58025E-6 " pathEditMode="relative" rAng="0" ptsTypes="AA">
                                      <p:cBhvr>
                                        <p:cTn id="124" dur="10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64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-1.2715658E-06 0.046296295 L -1.2715658E-06 0 E" pathEditMode="relative" ptsTypes="">
                                      <p:cBhvr>
                                        <p:cTn id="129" dur="10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-1.2715658E-06 0.046296295 L -1.2715658E-06 0 E" pathEditMode="relative" ptsTypes="">
                                      <p:cBhvr>
                                        <p:cTn id="134" dur="10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64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-1.2715658E-06 0.046296295 L -1.2715658E-06 0 E" pathEditMode="relative" ptsTypes="">
                                      <p:cBhvr>
                                        <p:cTn id="139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64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-1.2715658E-06 0.046296295 L -1.2715658E-06 0 E" pathEditMode="relative" ptsTypes="">
                                      <p:cBhvr>
                                        <p:cTn id="144" dur="1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64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3.19444E-6 0.0463 L 3.19444E-6 -3.58025E-6 " pathEditMode="relative" rAng="0" ptsTypes="AA">
                                      <p:cBhvr>
                                        <p:cTn id="149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64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6.94444E-7 0.0463 L 6.94444E-7 -4.07407E-6 " pathEditMode="relative" rAng="0" ptsTypes="AA">
                                      <p:cBhvr>
                                        <p:cTn id="154" dur="6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0"/>
      <p:bldP spid="318" grpId="0"/>
      <p:bldP spid="320" grpId="0"/>
      <p:bldP spid="322" grpId="0"/>
      <p:bldP spid="324" grpId="0"/>
      <p:bldP spid="326" grpId="0"/>
      <p:bldP spid="328" grpId="0"/>
      <p:bldP spid="330" grpId="0"/>
      <p:bldP spid="332" grpId="0"/>
      <p:bldP spid="334" grpId="0"/>
      <p:bldP spid="336" grpId="0"/>
      <p:bldP spid="338" grpId="0"/>
      <p:bldP spid="340" grpId="0"/>
      <p:bldP spid="342" grpId="0"/>
      <p:bldP spid="344" grpId="0"/>
      <p:bldP spid="346" grpId="0"/>
      <p:bldP spid="350" grpId="0"/>
      <p:bldP spid="352" grpId="0"/>
      <p:bldP spid="354" grpId="0"/>
      <p:bldP spid="356" grpId="0"/>
      <p:bldP spid="348" grpId="0"/>
      <p:bldP spid="358" grpId="0"/>
      <p:bldP spid="360" grpId="0"/>
      <p:bldP spid="362" grpId="0"/>
      <p:bldP spid="364" grpId="0"/>
      <p:bldP spid="366" grpId="0"/>
      <p:bldP spid="368" grpId="0"/>
      <p:bldP spid="370" grpId="0"/>
      <p:bldP spid="372" grpId="0"/>
      <p:bldP spid="3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-4015530"/>
            <a:ext cx="25426720" cy="14302530"/>
          </a:xfrm>
          <a:prstGeom prst="rect">
            <a:avLst/>
          </a:prstGeom>
        </p:spPr>
      </p:pic>
      <p:pic>
        <p:nvPicPr>
          <p:cNvPr id="3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9391358" y="-407773"/>
            <a:ext cx="10239375" cy="10707129"/>
          </a:xfrm>
          <a:prstGeom prst="rect">
            <a:avLst/>
          </a:prstGeom>
        </p:spPr>
      </p:pic>
      <p:pic>
        <p:nvPicPr>
          <p:cNvPr id="3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-60755" y="-399773"/>
            <a:ext cx="9769793" cy="6394204"/>
          </a:xfrm>
          <a:prstGeom prst="rect">
            <a:avLst/>
          </a:prstGeom>
        </p:spPr>
      </p:pic>
      <p:pic>
        <p:nvPicPr>
          <p:cNvPr id="387" name="layoutShapeInnerChild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363F299F-D3B2-4635-AEC0-4BFB138055D7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68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5963900" y="5448300"/>
            <a:ext cx="3831624" cy="4834681"/>
          </a:xfrm>
          <a:prstGeom prst="rect">
            <a:avLst/>
          </a:prstGeom>
        </p:spPr>
      </p:pic>
      <p:pic>
        <p:nvPicPr>
          <p:cNvPr id="389" name="layoutShapeInnerChild9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alphaModFix/>
            <a:extLst>
              <a:ext uri="{7561CB67-202A-4D08-AFDA-635053AE068E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71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514350"/>
            <a:ext cx="1947119" cy="5143500"/>
          </a:xfrm>
          <a:prstGeom prst="rect">
            <a:avLst/>
          </a:prstGeom>
        </p:spPr>
      </p:pic>
      <p:pic>
        <p:nvPicPr>
          <p:cNvPr id="3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2">
            <a:alphaModFix/>
          </a:blip>
          <a:stretch/>
        </p:blipFill>
        <p:spPr>
          <a:xfrm>
            <a:off x="1409700" y="3231636"/>
            <a:ext cx="635668" cy="662154"/>
          </a:xfrm>
          <a:prstGeom prst="rect">
            <a:avLst/>
          </a:prstGeom>
        </p:spPr>
      </p:pic>
      <p:sp>
        <p:nvSpPr>
          <p:cNvPr id="393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35931" y="3370268"/>
            <a:ext cx="397293" cy="30777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00" spc="16" dirty="0">
                <a:solidFill>
                  <a:srgbClr val="FFFFFF">
                    <a:alpha val="100000"/>
                  </a:srgbClr>
                </a:solidFill>
                <a:latin typeface="Noto Serif SemiBold" panose="00000700000000000000" pitchFamily="2" charset="0"/>
              </a:rPr>
              <a:t>01</a:t>
            </a:r>
          </a:p>
        </p:txBody>
      </p:sp>
      <p:sp>
        <p:nvSpPr>
          <p:cNvPr id="39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71700" y="3064669"/>
            <a:ext cx="6791325" cy="64376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Clr>
                <a:srgbClr val="0C0C0C"/>
              </a:buClr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Dataset Name</a:t>
            </a:r>
          </a:p>
        </p:txBody>
      </p:sp>
      <p:sp>
        <p:nvSpPr>
          <p:cNvPr id="39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71700" y="3533204"/>
            <a:ext cx="6791325" cy="56650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Hotel Review Dataset</a:t>
            </a:r>
          </a:p>
        </p:txBody>
      </p:sp>
      <p:pic>
        <p:nvPicPr>
          <p:cNvPr id="3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">
            <a:alphaModFix/>
          </a:blip>
          <a:stretch/>
        </p:blipFill>
        <p:spPr>
          <a:xfrm>
            <a:off x="1409700" y="4852226"/>
            <a:ext cx="635668" cy="662154"/>
          </a:xfrm>
          <a:prstGeom prst="rect">
            <a:avLst/>
          </a:prstGeom>
        </p:spPr>
      </p:pic>
      <p:sp>
        <p:nvSpPr>
          <p:cNvPr id="401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35931" y="4990661"/>
            <a:ext cx="397293" cy="30777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00" spc="16" dirty="0">
                <a:solidFill>
                  <a:srgbClr val="FFFFFF">
                    <a:alpha val="100000"/>
                  </a:srgbClr>
                </a:solidFill>
                <a:latin typeface="Noto Serif SemiBold" panose="00000700000000000000" pitchFamily="2" charset="0"/>
              </a:rPr>
              <a:t>02</a:t>
            </a:r>
          </a:p>
        </p:txBody>
      </p:sp>
      <p:sp>
        <p:nvSpPr>
          <p:cNvPr id="40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71700" y="4685157"/>
            <a:ext cx="6791325" cy="64376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Total Rows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40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71700" y="5153596"/>
            <a:ext cx="6791325" cy="56650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20,000+ reviews</a:t>
            </a:r>
          </a:p>
        </p:txBody>
      </p:sp>
      <p:pic>
        <p:nvPicPr>
          <p:cNvPr id="4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4">
            <a:alphaModFix/>
          </a:blip>
          <a:stretch/>
        </p:blipFill>
        <p:spPr>
          <a:xfrm>
            <a:off x="1409700" y="6472518"/>
            <a:ext cx="635668" cy="662154"/>
          </a:xfrm>
          <a:prstGeom prst="rect">
            <a:avLst/>
          </a:prstGeom>
        </p:spPr>
      </p:pic>
      <p:sp>
        <p:nvSpPr>
          <p:cNvPr id="409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35931" y="6611150"/>
            <a:ext cx="397293" cy="30777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00" spc="16" dirty="0">
                <a:solidFill>
                  <a:srgbClr val="FFFFFF">
                    <a:alpha val="100000"/>
                  </a:srgbClr>
                </a:solidFill>
                <a:latin typeface="Noto Serif SemiBold" panose="00000700000000000000" pitchFamily="2" charset="0"/>
              </a:rPr>
              <a:t>03</a:t>
            </a:r>
          </a:p>
        </p:txBody>
      </p:sp>
      <p:sp>
        <p:nvSpPr>
          <p:cNvPr id="41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71700" y="6305550"/>
            <a:ext cx="6791325" cy="64376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Total Columns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41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71701" y="6774085"/>
            <a:ext cx="2159668" cy="56650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</a:p>
        </p:txBody>
      </p:sp>
      <p:pic>
        <p:nvPicPr>
          <p:cNvPr id="4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">
            <a:alphaModFix/>
          </a:blip>
          <a:stretch/>
        </p:blipFill>
        <p:spPr>
          <a:xfrm>
            <a:off x="1409700" y="8093107"/>
            <a:ext cx="635668" cy="662154"/>
          </a:xfrm>
          <a:prstGeom prst="rect">
            <a:avLst/>
          </a:prstGeom>
        </p:spPr>
      </p:pic>
      <p:sp>
        <p:nvSpPr>
          <p:cNvPr id="417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35931" y="8231542"/>
            <a:ext cx="397293" cy="30777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00" spc="16" dirty="0">
                <a:solidFill>
                  <a:srgbClr val="000000">
                    <a:alpha val="100000"/>
                  </a:srgbClr>
                </a:solidFill>
                <a:latin typeface="Noto Serif SemiBold" panose="00000700000000000000" pitchFamily="2" charset="0"/>
              </a:rPr>
              <a:t>04</a:t>
            </a:r>
          </a:p>
        </p:txBody>
      </p:sp>
      <p:sp>
        <p:nvSpPr>
          <p:cNvPr id="419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71700" y="7925943"/>
            <a:ext cx="6791325" cy="64376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Target Variable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42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71700" y="8394478"/>
            <a:ext cx="6791325" cy="56650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Clr>
                <a:srgbClr val="0C0C0C"/>
              </a:buClr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Rating (Positive, Neutral, Negative) </a:t>
            </a:r>
          </a:p>
        </p:txBody>
      </p:sp>
      <p:pic>
        <p:nvPicPr>
          <p:cNvPr id="4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6">
            <a:alphaModFix/>
          </a:blip>
          <a:stretch/>
        </p:blipFill>
        <p:spPr>
          <a:xfrm>
            <a:off x="9372600" y="3231636"/>
            <a:ext cx="635668" cy="662154"/>
          </a:xfrm>
          <a:prstGeom prst="rect">
            <a:avLst/>
          </a:prstGeom>
        </p:spPr>
      </p:pic>
      <p:sp>
        <p:nvSpPr>
          <p:cNvPr id="425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98831" y="3370268"/>
            <a:ext cx="397293" cy="30777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00" spc="16" dirty="0">
                <a:solidFill>
                  <a:srgbClr val="000000">
                    <a:alpha val="100000"/>
                  </a:srgbClr>
                </a:solidFill>
                <a:latin typeface="Noto Serif SemiBold" panose="00000700000000000000" pitchFamily="2" charset="0"/>
              </a:rPr>
              <a:t>05</a:t>
            </a:r>
          </a:p>
        </p:txBody>
      </p:sp>
      <p:sp>
        <p:nvSpPr>
          <p:cNvPr id="427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34600" y="3064669"/>
            <a:ext cx="6791325" cy="64376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Data Types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429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34600" y="3533204"/>
            <a:ext cx="6791325" cy="56650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Clr>
                <a:srgbClr val="0C0C0C"/>
              </a:buClr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Categorical &amp; Numerical</a:t>
            </a:r>
          </a:p>
        </p:txBody>
      </p:sp>
      <p:sp>
        <p:nvSpPr>
          <p:cNvPr id="447" name="Click here to edit title-46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100011" y="349477"/>
            <a:ext cx="9466346" cy="120706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Dataset</a:t>
            </a:r>
            <a:r>
              <a:rPr lang="en-US" sz="6000" dirty="0">
                <a:latin typeface="Arial Rounded MT Bold" panose="020F0704030504030204" pitchFamily="34" charset="0"/>
              </a:rPr>
              <a:t> </a:t>
            </a: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5DE549-5F46-F601-8C4F-F22C9EE8CDC1}"/>
              </a:ext>
            </a:extLst>
          </p:cNvPr>
          <p:cNvPicPr>
            <a:picLocks noChangeAspect="1"/>
          </p:cNvPicPr>
          <p:nvPr/>
        </p:nvPicPr>
        <p:blipFill>
          <a:blip r:embed="rId77"/>
          <a:srcRect l="15926" t="4075" r="8550" b="3819"/>
          <a:stretch/>
        </p:blipFill>
        <p:spPr>
          <a:xfrm>
            <a:off x="7495140" y="4310083"/>
            <a:ext cx="9020435" cy="4399716"/>
          </a:xfrm>
          <a:prstGeom prst="roundRect">
            <a:avLst>
              <a:gd name="adj" fmla="val 8346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0.07408 L -2.08333E-6 -3.58025E-6 " pathEditMode="relative" rAng="0" ptsTypes="AA">
                                      <p:cBhvr>
                                        <p:cTn id="9" dur="12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0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.07407 L 4.16667E-7 4.69136E-6 " pathEditMode="relative" rAng="0" ptsTypes="AA">
                                      <p:cBhvr>
                                        <p:cTn id="14" dur="12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0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9" dur="12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24" dur="12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44444E-6 0.04629 L -4.44444E-6 3.7037E-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52778E-6 0.0463 L 1.52778E-6 -2.59259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91667E-6 0.0463 L 2.91667E-6 -3.58025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91667E-6 0.0463 L 2.91667E-6 4.93827E-7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4.44444E-6 0.04629 L -4.44444E-6 1.97531E-6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1.52778E-6 0.0463 L 1.52778E-6 -4.32099E-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2.91667E-6 0.04629 L 2.91667E-6 3.20988E-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2.91667E-6 0.04629 L 2.91667E-6 3.08642E-6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-4.44444E-6 0.04629 L -4.44444E-6 4.5679E-6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1.52778E-6 0.0463 L 1.52778E-6 -1.7284E-6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2.91667E-6 0.04629 L 2.91667E-6 1.48148E-6 " pathEditMode="relative" rAng="0" ptsTypes="AA">
                                      <p:cBhvr>
                                        <p:cTn id="79" dur="1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2.22222E-6 0.04629 L 2.22222E-6 1.35802E-6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-4.44444E-6 0.04629 L -4.44444E-6 2.83951E-6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1.52778E-6 0.0463 L 1.52778E-6 -3.45679E-6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2.91667E-6 0.0463 L 2.91667E-6 -2.46914E-7 " pathEditMode="relative" rAng="0" ptsTypes="AA">
                                      <p:cBhvr>
                                        <p:cTn id="99" dur="10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2.91667E-6 0.0463 L 2.91667E-6 -2.71605E-6 " pathEditMode="relative" rAng="0" ptsTypes="AA">
                                      <p:cBhvr>
                                        <p:cTn id="104" dur="10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4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-1.11111E-6 0.04629 L -1.11111E-6 3.7037E-6 " pathEditMode="relative" rAng="0" ptsTypes="AA">
                                      <p:cBhvr>
                                        <p:cTn id="109" dur="10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4.86111E-6 0.0463 L 4.86111E-6 -2.59259E-6 " pathEditMode="relative" rAng="0" ptsTypes="AA">
                                      <p:cBhvr>
                                        <p:cTn id="114" dur="10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-3.75E-6 0.0463 L -3.75E-6 6.17284E-7 " pathEditMode="relative" rAng="0" ptsTypes="AA">
                                      <p:cBhvr>
                                        <p:cTn id="119" dur="10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-3.75E-6 0.0463 L -3.75E-6 -1.85185E-6 " pathEditMode="relative" rAng="0" ptsTypes="AA">
                                      <p:cBhvr>
                                        <p:cTn id="124" dur="10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64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3.88889E-6 0.0463 L 3.88889E-6 -2.59259E-6 " pathEditMode="relative" rAng="0" ptsTypes="AA">
                                      <p:cBhvr>
                                        <p:cTn id="129" dur="6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" grpId="0"/>
      <p:bldP spid="383" grpId="0"/>
      <p:bldP spid="387" grpId="0"/>
      <p:bldP spid="389" grpId="0"/>
      <p:bldP spid="391" grpId="0"/>
      <p:bldP spid="393" grpId="0"/>
      <p:bldP spid="395" grpId="0"/>
      <p:bldP spid="397" grpId="0"/>
      <p:bldP spid="399" grpId="0"/>
      <p:bldP spid="401" grpId="0"/>
      <p:bldP spid="403" grpId="0"/>
      <p:bldP spid="405" grpId="0"/>
      <p:bldP spid="407" grpId="0"/>
      <p:bldP spid="409" grpId="0"/>
      <p:bldP spid="411" grpId="0"/>
      <p:bldP spid="413" grpId="0"/>
      <p:bldP spid="415" grpId="0"/>
      <p:bldP spid="417" grpId="0"/>
      <p:bldP spid="419" grpId="0"/>
      <p:bldP spid="421" grpId="0"/>
      <p:bldP spid="423" grpId="0"/>
      <p:bldP spid="425" grpId="0"/>
      <p:bldP spid="427" grpId="0"/>
      <p:bldP spid="429" grpId="0"/>
      <p:bldP spid="4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12032"/>
            <a:ext cx="18288000" cy="10287000"/>
          </a:xfrm>
          <a:prstGeom prst="rect">
            <a:avLst/>
          </a:prstGeom>
        </p:spPr>
      </p:pic>
      <p:pic>
        <p:nvPicPr>
          <p:cNvPr id="4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1714500"/>
            <a:ext cx="8572500" cy="8572500"/>
          </a:xfrm>
          <a:prstGeom prst="rect">
            <a:avLst/>
          </a:prstGeom>
        </p:spPr>
      </p:pic>
      <p:pic>
        <p:nvPicPr>
          <p:cNvPr id="458" name="layoutShapeInnerChild8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EF614191-4A63-4084-8F34-7B577D4012EB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94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5040511"/>
            <a:ext cx="6217890" cy="5246489"/>
          </a:xfrm>
          <a:prstGeom prst="rect">
            <a:avLst/>
          </a:prstGeom>
        </p:spPr>
      </p:pic>
      <p:pic>
        <p:nvPicPr>
          <p:cNvPr id="4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5">
            <a:alphaModFix/>
          </a:blip>
          <a:stretch/>
        </p:blipFill>
        <p:spPr>
          <a:xfrm>
            <a:off x="7467600" y="685800"/>
            <a:ext cx="10134600" cy="2760436"/>
          </a:xfrm>
          <a:prstGeom prst="rect">
            <a:avLst/>
          </a:prstGeom>
        </p:spPr>
      </p:pic>
      <p:sp>
        <p:nvSpPr>
          <p:cNvPr id="464" name="Name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87281" y="1164077"/>
            <a:ext cx="7791041" cy="47448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3672"/>
              </a:lnSpc>
            </a:pP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Missing Columns </a:t>
            </a:r>
          </a:p>
        </p:txBody>
      </p:sp>
      <p:sp>
        <p:nvSpPr>
          <p:cNvPr id="47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10943" y="1801332"/>
            <a:ext cx="524323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There are no columns in which the values are missing .</a:t>
            </a:r>
          </a:p>
        </p:txBody>
      </p:sp>
      <p:pic>
        <p:nvPicPr>
          <p:cNvPr id="4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6">
            <a:alphaModFix/>
          </a:blip>
          <a:stretch/>
        </p:blipFill>
        <p:spPr>
          <a:xfrm>
            <a:off x="7403342" y="3792402"/>
            <a:ext cx="10134600" cy="2914319"/>
          </a:xfrm>
          <a:prstGeom prst="rect">
            <a:avLst/>
          </a:prstGeom>
        </p:spPr>
      </p:pic>
      <p:sp>
        <p:nvSpPr>
          <p:cNvPr id="476" name="Name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3023" y="4270889"/>
            <a:ext cx="6629698" cy="47448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3672"/>
              </a:lnSpc>
            </a:pP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Duplicates Records </a:t>
            </a:r>
            <a:endParaRPr lang="en-US" sz="4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48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12642" y="4932062"/>
            <a:ext cx="5341536" cy="74129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There is no duplicate values found in the data set .</a:t>
            </a:r>
          </a:p>
        </p:txBody>
      </p:sp>
      <p:pic>
        <p:nvPicPr>
          <p:cNvPr id="4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">
            <a:alphaModFix/>
          </a:blip>
          <a:stretch/>
        </p:blipFill>
        <p:spPr>
          <a:xfrm>
            <a:off x="7351579" y="7083362"/>
            <a:ext cx="10134600" cy="2914319"/>
          </a:xfrm>
          <a:prstGeom prst="rect">
            <a:avLst/>
          </a:prstGeom>
        </p:spPr>
      </p:pic>
      <p:sp>
        <p:nvSpPr>
          <p:cNvPr id="488" name="Name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413724" y="7547670"/>
            <a:ext cx="7532666" cy="47448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Data Source </a:t>
            </a:r>
          </a:p>
        </p:txBody>
      </p:sp>
      <p:sp>
        <p:nvSpPr>
          <p:cNvPr id="49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403342" y="8208843"/>
            <a:ext cx="5550836" cy="738664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was taken from the in the excel format.</a:t>
            </a:r>
          </a:p>
        </p:txBody>
      </p:sp>
      <p:sp>
        <p:nvSpPr>
          <p:cNvPr id="496" name="Click here to edit title-45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-452664" y="820262"/>
            <a:ext cx="8441631" cy="184665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Exploratory Data Analysis (EDA)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D32BA9-A0D5-B0AB-8CD4-68FC0E47A9D4}"/>
              </a:ext>
            </a:extLst>
          </p:cNvPr>
          <p:cNvPicPr>
            <a:picLocks noChangeAspect="1"/>
          </p:cNvPicPr>
          <p:nvPr/>
        </p:nvPicPr>
        <p:blipFill>
          <a:blip r:embed="rId98"/>
          <a:srcRect l="4247" t="2558" r="66144" b="45572"/>
          <a:stretch/>
        </p:blipFill>
        <p:spPr>
          <a:xfrm>
            <a:off x="13054264" y="670585"/>
            <a:ext cx="4627452" cy="27604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BA70B1-284B-ECD1-3A53-35AC1C1F88F2}"/>
              </a:ext>
            </a:extLst>
          </p:cNvPr>
          <p:cNvPicPr>
            <a:picLocks noChangeAspect="1"/>
          </p:cNvPicPr>
          <p:nvPr/>
        </p:nvPicPr>
        <p:blipFill>
          <a:blip r:embed="rId98"/>
          <a:srcRect l="4487" t="51950" r="71585"/>
          <a:stretch/>
        </p:blipFill>
        <p:spPr>
          <a:xfrm>
            <a:off x="13054264" y="3792401"/>
            <a:ext cx="4483679" cy="29143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5355EC-9B79-5CF3-0DA7-89AF6170D01C}"/>
              </a:ext>
            </a:extLst>
          </p:cNvPr>
          <p:cNvPicPr>
            <a:picLocks noChangeAspect="1"/>
          </p:cNvPicPr>
          <p:nvPr/>
        </p:nvPicPr>
        <p:blipFill>
          <a:blip r:embed="rId99"/>
          <a:srcRect l="24658" t="17801" r="18735" b="24366"/>
          <a:stretch/>
        </p:blipFill>
        <p:spPr>
          <a:xfrm>
            <a:off x="13054263" y="7052885"/>
            <a:ext cx="4532001" cy="29447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696 L -1.9550323E-06 2.8822158E-06 E" pathEditMode="relative" ptsTypes="">
                                      <p:cBhvr>
                                        <p:cTn id="14" dur="12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33333E-6 0.0463 L 3.33333E-6 -1.60494E-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9391377E-06 0.046298612 L 1.9391377E-06 2.3170753E-06 E" pathEditMode="relative" ptsTypes="">
                                      <p:cBhvr>
                                        <p:cTn id="24" dur="10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5.55556E-7 0.04629 L -5.55556E-7 1.7284E-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4.44444E-6 0.0463 L -4.44444E-6 4.93827E-7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2.77778E-7 0.04629 L -2.77778E-7 2.71605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4.16667E-7 0.0463 L 4.16667E-7 -2.09877E-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1.38889E-7 0.04629 L 1.38889E-7 3.08642E-6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-4.72222E-6 0.04629 L -4.72222E-6 4.19753E-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4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2.77778E-6 0.04629 L 2.77778E-6 3.7037E-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4.16667E-7 0.0463 L 4.16667E-7 -4.44444E-6 " pathEditMode="relative" rAng="0" ptsTypes="AA">
                                      <p:cBhvr>
                                        <p:cTn id="64" dur="6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" grpId="0"/>
      <p:bldP spid="458" grpId="0"/>
      <p:bldP spid="460" grpId="0"/>
      <p:bldP spid="464" grpId="0"/>
      <p:bldP spid="470" grpId="0"/>
      <p:bldP spid="472" grpId="0"/>
      <p:bldP spid="476" grpId="0"/>
      <p:bldP spid="482" grpId="0"/>
      <p:bldP spid="484" grpId="0"/>
      <p:bldP spid="488" grpId="0"/>
      <p:bldP spid="494" grpId="0"/>
      <p:bldP spid="49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1140" y="0"/>
            <a:ext cx="9132860" cy="4384217"/>
          </a:xfrm>
          <a:prstGeom prst="rect">
            <a:avLst/>
          </a:prstGeom>
        </p:spPr>
      </p:pic>
      <p:pic>
        <p:nvPicPr>
          <p:cNvPr id="5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0801385" y="0"/>
            <a:ext cx="7484805" cy="10287000"/>
          </a:xfrm>
          <a:prstGeom prst="rect">
            <a:avLst/>
          </a:prstGeom>
        </p:spPr>
      </p:pic>
      <p:pic>
        <p:nvPicPr>
          <p:cNvPr id="509" name="84b3358f-1415-4b90-a71a-e79a5ed50e4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253384" y="2661989"/>
            <a:ext cx="8610600" cy="6972300"/>
          </a:xfrm>
          <a:prstGeom prst="rect">
            <a:avLst/>
          </a:prstGeom>
        </p:spPr>
      </p:pic>
      <p:pic>
        <p:nvPicPr>
          <p:cNvPr id="5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937404" y="67025"/>
            <a:ext cx="776449" cy="804179"/>
          </a:xfrm>
          <a:prstGeom prst="rect">
            <a:avLst/>
          </a:prstGeom>
        </p:spPr>
      </p:pic>
      <p:sp>
        <p:nvSpPr>
          <p:cNvPr id="51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9331" y="1402319"/>
            <a:ext cx="701992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Before Converting Rating to Categorical the rating was distributed in the Numerical order of 1 to 5  order .</a:t>
            </a:r>
          </a:p>
        </p:txBody>
      </p:sp>
      <p:sp>
        <p:nvSpPr>
          <p:cNvPr id="51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6831" y="828203"/>
            <a:ext cx="7469239" cy="55399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Rating Order Before </a:t>
            </a:r>
          </a:p>
        </p:txBody>
      </p:sp>
      <p:pic>
        <p:nvPicPr>
          <p:cNvPr id="5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937404" y="4228722"/>
            <a:ext cx="776449" cy="804179"/>
          </a:xfrm>
          <a:prstGeom prst="rect">
            <a:avLst/>
          </a:prstGeom>
        </p:spPr>
      </p:pic>
      <p:sp>
        <p:nvSpPr>
          <p:cNvPr id="523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4279" y="4474573"/>
            <a:ext cx="415911" cy="35907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800" spc="19" dirty="0">
                <a:latin typeface="Noto Serif SemiBold" panose="00000700000000000000" pitchFamily="2" charset="0"/>
              </a:rPr>
              <a:t>02</a:t>
            </a:r>
          </a:p>
        </p:txBody>
      </p:sp>
      <p:sp>
        <p:nvSpPr>
          <p:cNvPr id="52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79645" y="5572760"/>
            <a:ext cx="701992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After  Converting Rating to Categorical the rating was distributed in the order of Positive , Neutral , Negative .</a:t>
            </a:r>
          </a:p>
        </p:txBody>
      </p:sp>
      <p:sp>
        <p:nvSpPr>
          <p:cNvPr id="52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57175" y="5032902"/>
            <a:ext cx="7469239" cy="55399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Rating Order After </a:t>
            </a:r>
          </a:p>
        </p:txBody>
      </p:sp>
      <p:pic>
        <p:nvPicPr>
          <p:cNvPr id="5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017461" y="7183195"/>
            <a:ext cx="776449" cy="804179"/>
          </a:xfrm>
          <a:prstGeom prst="rect">
            <a:avLst/>
          </a:prstGeom>
        </p:spPr>
      </p:pic>
      <p:sp>
        <p:nvSpPr>
          <p:cNvPr id="531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4336" y="7428952"/>
            <a:ext cx="415911" cy="35907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800" spc="19" dirty="0">
                <a:latin typeface="Noto Serif SemiBold" panose="00000700000000000000" pitchFamily="2" charset="0"/>
              </a:rPr>
              <a:t>03</a:t>
            </a:r>
          </a:p>
        </p:txBody>
      </p:sp>
      <p:sp>
        <p:nvSpPr>
          <p:cNvPr id="53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5370" y="7987374"/>
            <a:ext cx="7469239" cy="55399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Rating → Sentiment:</a:t>
            </a:r>
          </a:p>
        </p:txBody>
      </p:sp>
      <p:sp>
        <p:nvSpPr>
          <p:cNvPr id="535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59703" y="8527139"/>
            <a:ext cx="4523526" cy="153888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4-5: Positive</a:t>
            </a:r>
          </a:p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2-3: Neutral</a:t>
            </a:r>
          </a:p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0-1: Negative</a:t>
            </a:r>
          </a:p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Encoded: {'Negative':0, 'Neutral':1, 'Positive':2} </a:t>
            </a:r>
          </a:p>
        </p:txBody>
      </p:sp>
      <p:pic>
        <p:nvPicPr>
          <p:cNvPr id="6" name="Rect">
            <a:extLst>
              <a:ext uri="{FF2B5EF4-FFF2-40B4-BE49-F238E27FC236}">
                <a16:creationId xmlns:a16="http://schemas.microsoft.com/office/drawing/2014/main" id="{BE29F012-ED7A-D36F-A941-663BBEE85C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 flipV="1">
            <a:off x="8580" y="5455784"/>
            <a:ext cx="8635093" cy="4831215"/>
          </a:xfrm>
          <a:prstGeom prst="rect">
            <a:avLst/>
          </a:prstGeom>
        </p:spPr>
      </p:pic>
      <p:sp>
        <p:nvSpPr>
          <p:cNvPr id="537" name="Click here to edit title-42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536100" y="407665"/>
            <a:ext cx="9575068" cy="184665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Sentiment Analysis For Rating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C531F-2930-17C2-9D7A-9282CE6EB94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336"/>
          <a:stretch/>
        </p:blipFill>
        <p:spPr>
          <a:xfrm>
            <a:off x="3054679" y="2004459"/>
            <a:ext cx="5339579" cy="24270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12233C-2C99-493B-E079-E785AC7A67E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46" r="1718" b="3373"/>
          <a:stretch/>
        </p:blipFill>
        <p:spPr>
          <a:xfrm>
            <a:off x="4868881" y="6454481"/>
            <a:ext cx="4126418" cy="318383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4" name="-1">
            <a:extLst>
              <a:ext uri="{FF2B5EF4-FFF2-40B4-BE49-F238E27FC236}">
                <a16:creationId xmlns:a16="http://schemas.microsoft.com/office/drawing/2014/main" id="{E731E1C8-A3FE-3381-6CA7-D0A32FB3973D}"/>
              </a:ext>
            </a:extLst>
          </p:cNvPr>
          <p:cNvSpPr txBox="1"/>
          <p:nvPr/>
        </p:nvSpPr>
        <p:spPr>
          <a:xfrm>
            <a:off x="1041656" y="282263"/>
            <a:ext cx="415911" cy="35907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800" spc="19" dirty="0">
                <a:latin typeface="Noto Serif SemiBold" panose="00000700000000000000" pitchFamily="2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.07407 L -4.16667E-7 2.71605E-6 " pathEditMode="relative" rAng="0" ptsTypes="AA">
                                      <p:cBhvr>
                                        <p:cTn id="9" dur="1200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0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0556E-6 0.07407 L 4.30556E-6 0 " pathEditMode="relative" rAng="0" ptsTypes="AA">
                                      <p:cBhvr>
                                        <p:cTn id="14" dur="12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0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3.75E-6 0.04629 L 3.75E-6 4.81481E-6 " pathEditMode="relative" rAng="0" ptsTypes="AA">
                                      <p:cBhvr>
                                        <p:cTn id="19" dur="60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2.63889E-6 0.0463 L -2.63889E-6 -4.69136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2.08333E-6 0.04629 L -2.08333E-6 2.59259E-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36111E-6 0.0463 L 2.36111E-6 -3.7037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-2.63889E-6 0.0463 L -2.63889E-6 -4.32099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-4.16667E-7 0.0463 L -4.16667E-7 8.64198E-7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8.33333E-7 0.0463 L 8.33333E-7 6.17284E-7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-4.86111E-6 0.0463 L -4.86111E-6 -4.93827E-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4" presetClass="path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-2.91667E-6 0.04629 L -2.91667E-6 4.32099E-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2.5E-6 0.0463 L 2.5E-6 -4.93827E-7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4" presetClass="path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-3.61111E-6 0.0463 L -3.61111E-6 -7.40741E-7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4.02778E-6 0.0463 L 4.02778E-6 -3.7037E-6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9.72222E-7 0.0463 L 9.72222E-7 -9.87654E-7 " pathEditMode="relative" rAng="0" ptsTypes="AA">
                                      <p:cBhvr>
                                        <p:cTn id="79" dur="600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4.02778E-6 0.04629 L 4.02778E-6 2.59259E-6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6111E-6 0.07408 L 4.86111E-6 -3.45679E-6 " pathEditMode="relative" rAng="0" ptsTypes="AA">
                                      <p:cBhvr>
                                        <p:cTn id="89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" grpId="0"/>
      <p:bldP spid="507" grpId="0"/>
      <p:bldP spid="509" grpId="0"/>
      <p:bldP spid="513" grpId="0"/>
      <p:bldP spid="519" grpId="0"/>
      <p:bldP spid="517" grpId="0"/>
      <p:bldP spid="521" grpId="0"/>
      <p:bldP spid="523" grpId="0"/>
      <p:bldP spid="527" grpId="0"/>
      <p:bldP spid="525" grpId="0"/>
      <p:bldP spid="529" grpId="0"/>
      <p:bldP spid="531" grpId="0"/>
      <p:bldP spid="533" grpId="0"/>
      <p:bldP spid="535" grpId="0"/>
      <p:bldP spid="6" grpId="0"/>
      <p:bldP spid="537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17040" y="-29754"/>
            <a:ext cx="18288000" cy="10287000"/>
          </a:xfrm>
          <a:prstGeom prst="rect">
            <a:avLst/>
          </a:prstGeom>
        </p:spPr>
      </p:pic>
      <p:pic>
        <p:nvPicPr>
          <p:cNvPr id="6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-29139" y="-21289"/>
            <a:ext cx="5715000" cy="5715000"/>
          </a:xfrm>
          <a:prstGeom prst="rect">
            <a:avLst/>
          </a:prstGeom>
        </p:spPr>
      </p:pic>
      <p:pic>
        <p:nvPicPr>
          <p:cNvPr id="6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959376" y="-174396"/>
            <a:ext cx="10412963" cy="10461395"/>
          </a:xfrm>
          <a:prstGeom prst="rect">
            <a:avLst/>
          </a:prstGeom>
        </p:spPr>
      </p:pic>
      <p:pic>
        <p:nvPicPr>
          <p:cNvPr id="684" name="layoutShapeInnerChild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5B0CBD76-6E04-473D-BD52-1612F140CD41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39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5963900" y="5448300"/>
            <a:ext cx="2324100" cy="4834681"/>
          </a:xfrm>
          <a:prstGeom prst="rect">
            <a:avLst/>
          </a:prstGeom>
        </p:spPr>
      </p:pic>
      <p:pic>
        <p:nvPicPr>
          <p:cNvPr id="686" name="layoutShapeInnerChild9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/>
            <a:extLst>
              <a:ext uri="{8139D3F6-71E9-4C0D-AB0C-D5064452F899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42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7040" y="18047"/>
            <a:ext cx="1947119" cy="5143500"/>
          </a:xfrm>
          <a:prstGeom prst="rect">
            <a:avLst/>
          </a:prstGeom>
        </p:spPr>
      </p:pic>
      <p:sp>
        <p:nvSpPr>
          <p:cNvPr id="69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58610" y="4144059"/>
            <a:ext cx="7697210" cy="64376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Convert text to lowercase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69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42647" y="4853263"/>
            <a:ext cx="5648325" cy="738664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Standardizes all text to avoid case-sensitive mismatches.</a:t>
            </a:r>
          </a:p>
        </p:txBody>
      </p:sp>
      <p:pic>
        <p:nvPicPr>
          <p:cNvPr id="6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3">
            <a:alphaModFix/>
          </a:blip>
          <a:stretch/>
        </p:blipFill>
        <p:spPr>
          <a:xfrm>
            <a:off x="1409700" y="3621596"/>
            <a:ext cx="533400" cy="533400"/>
          </a:xfrm>
          <a:prstGeom prst="rect">
            <a:avLst/>
          </a:prstGeom>
        </p:spPr>
      </p:pic>
      <p:sp>
        <p:nvSpPr>
          <p:cNvPr id="696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72758" y="3755221"/>
            <a:ext cx="448053" cy="35907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400" spc="19" dirty="0">
                <a:solidFill>
                  <a:srgbClr val="181C24">
                    <a:alpha val="100000"/>
                  </a:srgbClr>
                </a:solidFill>
                <a:latin typeface="Noto Serif SemiBold" panose="00000700000000000000" pitchFamily="2" charset="0"/>
              </a:rPr>
              <a:t>01</a:t>
            </a:r>
          </a:p>
        </p:txBody>
      </p:sp>
      <p:pic>
        <p:nvPicPr>
          <p:cNvPr id="698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44">
            <a:alphaModFix/>
          </a:blip>
          <a:stretch/>
        </p:blipFill>
        <p:spPr>
          <a:xfrm>
            <a:off x="15151037" y="4752717"/>
            <a:ext cx="1649214" cy="1649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0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22798" y="4061350"/>
            <a:ext cx="8982242" cy="64376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Remove punctuation and special characters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70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30742" y="4830922"/>
            <a:ext cx="5648325" cy="738664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Cleans text by eliminating irrelevant symbols and noise.</a:t>
            </a:r>
          </a:p>
        </p:txBody>
      </p:sp>
      <p:pic>
        <p:nvPicPr>
          <p:cNvPr id="7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3">
            <a:alphaModFix/>
          </a:blip>
          <a:stretch/>
        </p:blipFill>
        <p:spPr>
          <a:xfrm>
            <a:off x="9372600" y="3621596"/>
            <a:ext cx="533400" cy="533400"/>
          </a:xfrm>
          <a:prstGeom prst="rect">
            <a:avLst/>
          </a:prstGeom>
        </p:spPr>
      </p:pic>
      <p:sp>
        <p:nvSpPr>
          <p:cNvPr id="706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60853" y="3732880"/>
            <a:ext cx="448053" cy="35907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400" spc="19" dirty="0">
                <a:solidFill>
                  <a:srgbClr val="181C24">
                    <a:alpha val="100000"/>
                  </a:srgbClr>
                </a:solidFill>
                <a:latin typeface="Noto Serif SemiBold" panose="00000700000000000000" pitchFamily="2" charset="0"/>
              </a:rPr>
              <a:t>02</a:t>
            </a:r>
          </a:p>
        </p:txBody>
      </p:sp>
      <p:pic>
        <p:nvPicPr>
          <p:cNvPr id="708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45">
            <a:alphaModFix/>
          </a:blip>
          <a:stretch/>
        </p:blipFill>
        <p:spPr>
          <a:xfrm>
            <a:off x="7145508" y="7176860"/>
            <a:ext cx="1715141" cy="17151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10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79912" y="6570924"/>
            <a:ext cx="9998840" cy="64376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Tokenize words And Remove Stopwords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712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3889" y="7280128"/>
            <a:ext cx="6404501" cy="184665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Splits sentences into individual words for easier processing.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Removes common words (like “the”, “is”) that carry little meaning.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3">
            <a:alphaModFix/>
          </a:blip>
          <a:stretch/>
        </p:blipFill>
        <p:spPr>
          <a:xfrm>
            <a:off x="1409700" y="6305550"/>
            <a:ext cx="533400" cy="533400"/>
          </a:xfrm>
          <a:prstGeom prst="rect">
            <a:avLst/>
          </a:prstGeom>
        </p:spPr>
      </p:pic>
      <p:sp>
        <p:nvSpPr>
          <p:cNvPr id="716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4257" y="6183209"/>
            <a:ext cx="508037" cy="35907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400" spc="19" dirty="0">
                <a:solidFill>
                  <a:srgbClr val="181C24">
                    <a:alpha val="100000"/>
                  </a:srgbClr>
                </a:solidFill>
                <a:latin typeface="Noto Serif SemiBold" panose="00000700000000000000" pitchFamily="2" charset="0"/>
              </a:rPr>
              <a:t>03</a:t>
            </a:r>
          </a:p>
        </p:txBody>
      </p:sp>
      <p:pic>
        <p:nvPicPr>
          <p:cNvPr id="718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46">
            <a:alphaModFix/>
          </a:blip>
          <a:stretch/>
        </p:blipFill>
        <p:spPr>
          <a:xfrm>
            <a:off x="16063712" y="6896627"/>
            <a:ext cx="1649214" cy="1649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2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22798" y="6825404"/>
            <a:ext cx="7697210" cy="64376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Perform stemming/lemmatization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722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29701" y="7561408"/>
            <a:ext cx="5648325" cy="69249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736"/>
              </a:lnSpc>
            </a:pPr>
            <a:r>
              <a:rPr lang="en-US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Reduces words to their root form to unify similar terms.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3">
            <a:alphaModFix/>
          </a:blip>
          <a:stretch/>
        </p:blipFill>
        <p:spPr>
          <a:xfrm>
            <a:off x="9372600" y="6305550"/>
            <a:ext cx="533400" cy="533400"/>
          </a:xfrm>
          <a:prstGeom prst="rect">
            <a:avLst/>
          </a:prstGeom>
        </p:spPr>
      </p:pic>
      <p:sp>
        <p:nvSpPr>
          <p:cNvPr id="726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59812" y="6463270"/>
            <a:ext cx="448053" cy="35907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400" spc="19" dirty="0">
                <a:solidFill>
                  <a:srgbClr val="181C24">
                    <a:alpha val="100000"/>
                  </a:srgbClr>
                </a:solidFill>
                <a:latin typeface="Noto Serif SemiBold" panose="00000700000000000000" pitchFamily="2" charset="0"/>
              </a:rPr>
              <a:t>04</a:t>
            </a:r>
          </a:p>
        </p:txBody>
      </p:sp>
      <p:sp>
        <p:nvSpPr>
          <p:cNvPr id="728" name="Click here to edit title-41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09700" y="993172"/>
            <a:ext cx="15516225" cy="120706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Text Cleaning And </a:t>
            </a: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Preprocessing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7CE549-B971-4349-4D7B-6698306C435D}"/>
              </a:ext>
            </a:extLst>
          </p:cNvPr>
          <p:cNvPicPr>
            <a:picLocks noChangeAspect="1"/>
          </p:cNvPicPr>
          <p:nvPr/>
        </p:nvPicPr>
        <p:blipFill>
          <a:blip r:embed="rId2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31" b="11850"/>
          <a:stretch/>
        </p:blipFill>
        <p:spPr>
          <a:xfrm>
            <a:off x="6938390" y="4247854"/>
            <a:ext cx="1744060" cy="1442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6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14" dur="1200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9" dur="1200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24" dur="1200" fill="hold"/>
                                        <p:tgtEl>
                                          <p:spTgt spid="6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91667E-6 0.0463 L -2.91667E-6 -1.23457E-7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33333E-6 0.0463 L -3.33333E-6 -1.7284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295136 L 0 -1.1585377E-06 E" pathEditMode="relative" ptsTypes="">
                                      <p:cBhvr>
                                        <p:cTn id="39" dur="100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88889E-6 0.04629 L -3.88889E-6 2.59259E-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6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4.30556E-6 0.0463 L -4.30556E-6 3.7037E-7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6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4.72222E-6 0.0463 L -4.72222E-6 3.7037E-7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1.11111E-6 0.0463 L 1.11111E-6 -1.23457E-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 0.046295136 L 0 -1.1585377E-06 E" pathEditMode="relative" ptsTypes="">
                                      <p:cBhvr>
                                        <p:cTn id="64" dur="1000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5.55556E-7 0.04629 L 5.55556E-7 3.08642E-6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3.19444E-6 0.04629 L 3.19444E-6 1.48148E-6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8.33333E-7 0.0463 L 8.33333E-7 -3.33333E-6 " pathEditMode="relative" rAng="0" ptsTypes="AA">
                                      <p:cBhvr>
                                        <p:cTn id="79" dur="10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-3.47222E-6 0.04629 L -3.47222E-6 3.45679E-6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89" dur="1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-2.5E-6 0.04629 L -2.5E-6 1.48148E-6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2.5E-6 0.0463 L 2.5E-6 -2.96296E-6 " pathEditMode="relative" rAng="0" ptsTypes="AA">
                                      <p:cBhvr>
                                        <p:cTn id="99" dur="1000" fill="hold"/>
                                        <p:tgtEl>
                                          <p:spTgt spid="7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-2.91667E-6 0.0463 L -2.91667E-6 -1.7284E-6 " pathEditMode="relative" rAng="0" ptsTypes="AA">
                                      <p:cBhvr>
                                        <p:cTn id="104" dur="10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-3.33333E-6 0.0463 L -3.33333E-6 -2.83951E-6 " pathEditMode="relative" rAng="0" ptsTypes="AA">
                                      <p:cBhvr>
                                        <p:cTn id="109" dur="10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114" dur="1000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-3.88889E-6 0.0463 L -3.88889E-6 9.87654E-7 " pathEditMode="relative" rAng="0" ptsTypes="AA">
                                      <p:cBhvr>
                                        <p:cTn id="119" dur="10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08333E-6 0.04629 L -2.08333E-6 3.08642E-6 " pathEditMode="relative" rAng="0" ptsTypes="AA">
                                      <p:cBhvr>
                                        <p:cTn id="124" dur="600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" grpId="0"/>
      <p:bldP spid="682" grpId="0"/>
      <p:bldP spid="684" grpId="0"/>
      <p:bldP spid="686" grpId="0"/>
      <p:bldP spid="690" grpId="0"/>
      <p:bldP spid="692" grpId="0"/>
      <p:bldP spid="694" grpId="0"/>
      <p:bldP spid="696" grpId="0"/>
      <p:bldP spid="698" grpId="0"/>
      <p:bldP spid="700" grpId="0"/>
      <p:bldP spid="702" grpId="0"/>
      <p:bldP spid="704" grpId="0"/>
      <p:bldP spid="706" grpId="0"/>
      <p:bldP spid="708" grpId="0"/>
      <p:bldP spid="710" grpId="0"/>
      <p:bldP spid="712" grpId="0"/>
      <p:bldP spid="714" grpId="0"/>
      <p:bldP spid="716" grpId="0"/>
      <p:bldP spid="718" grpId="0"/>
      <p:bldP spid="720" grpId="0"/>
      <p:bldP spid="722" grpId="0"/>
      <p:bldP spid="724" grpId="0"/>
      <p:bldP spid="726" grpId="0"/>
      <p:bldP spid="7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AE56F-6207-8F95-8090-52C2AC08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Rect">
            <a:extLst>
              <a:ext uri="{FF2B5EF4-FFF2-40B4-BE49-F238E27FC236}">
                <a16:creationId xmlns:a16="http://schemas.microsoft.com/office/drawing/2014/main" id="{5D159E43-646A-34E8-A55B-D1D9C6D953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23812" y="23053"/>
            <a:ext cx="18288000" cy="10287000"/>
          </a:xfrm>
          <a:prstGeom prst="rect">
            <a:avLst/>
          </a:prstGeom>
        </p:spPr>
      </p:pic>
      <p:pic>
        <p:nvPicPr>
          <p:cNvPr id="680" name="Rect">
            <a:extLst>
              <a:ext uri="{FF2B5EF4-FFF2-40B4-BE49-F238E27FC236}">
                <a16:creationId xmlns:a16="http://schemas.microsoft.com/office/drawing/2014/main" id="{2A7F28C9-AFE4-C0B7-2756-0B1A1FDDB1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-7395" y="-7981"/>
            <a:ext cx="5648325" cy="5715000"/>
          </a:xfrm>
          <a:prstGeom prst="rect">
            <a:avLst/>
          </a:prstGeom>
        </p:spPr>
      </p:pic>
      <p:pic>
        <p:nvPicPr>
          <p:cNvPr id="682" name="Rect">
            <a:extLst>
              <a:ext uri="{FF2B5EF4-FFF2-40B4-BE49-F238E27FC236}">
                <a16:creationId xmlns:a16="http://schemas.microsoft.com/office/drawing/2014/main" id="{94BEAABA-84B7-6981-A0A0-9674841E78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0539663" y="0"/>
            <a:ext cx="7746527" cy="10287000"/>
          </a:xfrm>
          <a:prstGeom prst="rect">
            <a:avLst/>
          </a:prstGeom>
        </p:spPr>
      </p:pic>
      <p:pic>
        <p:nvPicPr>
          <p:cNvPr id="684" name="layoutShapeInnerChild7">
            <a:extLst>
              <a:ext uri="{FF2B5EF4-FFF2-40B4-BE49-F238E27FC236}">
                <a16:creationId xmlns:a16="http://schemas.microsoft.com/office/drawing/2014/main" id="{C8867223-89B5-5DEC-FBBF-26B2384C85B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5B0CBD76-6E04-473D-BD52-1612F140CD41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39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5963900" y="5448300"/>
            <a:ext cx="2324100" cy="4834681"/>
          </a:xfrm>
          <a:prstGeom prst="rect">
            <a:avLst/>
          </a:prstGeom>
        </p:spPr>
      </p:pic>
      <p:pic>
        <p:nvPicPr>
          <p:cNvPr id="694" name="Rect">
            <a:extLst>
              <a:ext uri="{FF2B5EF4-FFF2-40B4-BE49-F238E27FC236}">
                <a16:creationId xmlns:a16="http://schemas.microsoft.com/office/drawing/2014/main" id="{758F8A5E-FA1E-2B16-D577-03A2816A6A1E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/>
          </a:blip>
          <a:stretch/>
        </p:blipFill>
        <p:spPr>
          <a:xfrm>
            <a:off x="4257675" y="1572334"/>
            <a:ext cx="533400" cy="533400"/>
          </a:xfrm>
          <a:prstGeom prst="rect">
            <a:avLst/>
          </a:prstGeom>
        </p:spPr>
      </p:pic>
      <p:sp>
        <p:nvSpPr>
          <p:cNvPr id="696" name="-0">
            <a:extLst>
              <a:ext uri="{FF2B5EF4-FFF2-40B4-BE49-F238E27FC236}">
                <a16:creationId xmlns:a16="http://schemas.microsoft.com/office/drawing/2014/main" id="{55FA89F4-CDB4-A5A7-5BFF-BBED762D17B3}"/>
              </a:ext>
            </a:extLst>
          </p:cNvPr>
          <p:cNvSpPr txBox="1"/>
          <p:nvPr/>
        </p:nvSpPr>
        <p:spPr>
          <a:xfrm>
            <a:off x="5177509" y="1363127"/>
            <a:ext cx="546797" cy="35907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400" spc="19" dirty="0">
                <a:solidFill>
                  <a:srgbClr val="181C24">
                    <a:alpha val="100000"/>
                  </a:srgbClr>
                </a:solidFill>
                <a:latin typeface="Noto Serif SemiBold" panose="00000700000000000000" pitchFamily="2" charset="0"/>
              </a:rPr>
              <a:t>01</a:t>
            </a:r>
            <a:endParaRPr lang="en-US" sz="2000" spc="19" dirty="0">
              <a:solidFill>
                <a:srgbClr val="181C24">
                  <a:alpha val="100000"/>
                </a:srgbClr>
              </a:solidFill>
              <a:latin typeface="Noto Serif SemiBold" panose="00000700000000000000" pitchFamily="2" charset="0"/>
            </a:endParaRPr>
          </a:p>
        </p:txBody>
      </p:sp>
      <p:pic>
        <p:nvPicPr>
          <p:cNvPr id="698" name="imageNode1">
            <a:extLst>
              <a:ext uri="{FF2B5EF4-FFF2-40B4-BE49-F238E27FC236}">
                <a16:creationId xmlns:a16="http://schemas.microsoft.com/office/drawing/2014/main" id="{3B8860B2-9AE3-E82E-8F1D-364055D7E27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41">
            <a:alphaModFix/>
          </a:blip>
          <a:stretch/>
        </p:blipFill>
        <p:spPr>
          <a:xfrm>
            <a:off x="15415355" y="4003453"/>
            <a:ext cx="1466850" cy="1466850"/>
          </a:xfrm>
          <a:prstGeom prst="rect">
            <a:avLst/>
          </a:prstGeom>
        </p:spPr>
      </p:pic>
      <p:sp>
        <p:nvSpPr>
          <p:cNvPr id="692" name="Description of a primary heading-0">
            <a:extLst>
              <a:ext uri="{FF2B5EF4-FFF2-40B4-BE49-F238E27FC236}">
                <a16:creationId xmlns:a16="http://schemas.microsoft.com/office/drawing/2014/main" id="{427E4224-D849-4863-4203-ABBF8E8EED26}"/>
              </a:ext>
            </a:extLst>
          </p:cNvPr>
          <p:cNvSpPr txBox="1"/>
          <p:nvPr/>
        </p:nvSpPr>
        <p:spPr>
          <a:xfrm>
            <a:off x="3632346" y="2523277"/>
            <a:ext cx="7351727" cy="307776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Apply Train Test Split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Train-Test Split (e.g., 80%-20%)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80% Training </a:t>
            </a:r>
            <a:r>
              <a:rPr lang="fr-F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Set (X_train, y_train)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20% Testing split </a:t>
            </a:r>
            <a:r>
              <a:rPr lang="fr-F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Set (X_test , y_test)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Ensured randomness with random_state=42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0" name="Primary Heading-0">
            <a:extLst>
              <a:ext uri="{FF2B5EF4-FFF2-40B4-BE49-F238E27FC236}">
                <a16:creationId xmlns:a16="http://schemas.microsoft.com/office/drawing/2014/main" id="{DB439098-2894-FEE6-1AF8-11B162D7D26D}"/>
              </a:ext>
            </a:extLst>
          </p:cNvPr>
          <p:cNvSpPr txBox="1"/>
          <p:nvPr/>
        </p:nvSpPr>
        <p:spPr>
          <a:xfrm>
            <a:off x="3622355" y="1906014"/>
            <a:ext cx="564832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Train Test Split </a:t>
            </a:r>
          </a:p>
        </p:txBody>
      </p:sp>
      <p:sp>
        <p:nvSpPr>
          <p:cNvPr id="700" name="Primary Heading-1">
            <a:extLst>
              <a:ext uri="{FF2B5EF4-FFF2-40B4-BE49-F238E27FC236}">
                <a16:creationId xmlns:a16="http://schemas.microsoft.com/office/drawing/2014/main" id="{FE51EE09-CEAF-6339-B8B4-1F1C2C0C48AB}"/>
              </a:ext>
            </a:extLst>
          </p:cNvPr>
          <p:cNvSpPr txBox="1"/>
          <p:nvPr/>
        </p:nvSpPr>
        <p:spPr>
          <a:xfrm>
            <a:off x="9372600" y="4337780"/>
            <a:ext cx="5648325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42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Enhanced Quality</a:t>
            </a:r>
          </a:p>
        </p:txBody>
      </p:sp>
      <p:sp>
        <p:nvSpPr>
          <p:cNvPr id="702" name="Description of a primary heading-1">
            <a:extLst>
              <a:ext uri="{FF2B5EF4-FFF2-40B4-BE49-F238E27FC236}">
                <a16:creationId xmlns:a16="http://schemas.microsoft.com/office/drawing/2014/main" id="{0791299D-B07B-3BEF-6555-1BC1BC982A4C}"/>
              </a:ext>
            </a:extLst>
          </p:cNvPr>
          <p:cNvSpPr txBox="1"/>
          <p:nvPr/>
        </p:nvSpPr>
        <p:spPr>
          <a:xfrm>
            <a:off x="9372600" y="4806220"/>
            <a:ext cx="5648325" cy="1047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 spc="-18" dirty="0">
                <a:solidFill>
                  <a:srgbClr val="181C24">
                    <a:alpha val="100000"/>
                  </a:srgbClr>
                </a:solidFill>
                <a:latin typeface="IBM Plex Sans" panose="00000700000000000000" pitchFamily="2" charset="0"/>
              </a:rPr>
              <a:t>Presentations generated by the platform receive higher engagement rates and positive feedback, demonstrating improved audience connection.</a:t>
            </a:r>
          </a:p>
        </p:txBody>
      </p:sp>
      <p:pic>
        <p:nvPicPr>
          <p:cNvPr id="704" name="Rect">
            <a:extLst>
              <a:ext uri="{FF2B5EF4-FFF2-40B4-BE49-F238E27FC236}">
                <a16:creationId xmlns:a16="http://schemas.microsoft.com/office/drawing/2014/main" id="{007F59A5-09D8-D613-DBC7-2161B46236B4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/>
          </a:blip>
          <a:stretch/>
        </p:blipFill>
        <p:spPr>
          <a:xfrm>
            <a:off x="9372600" y="3621596"/>
            <a:ext cx="533400" cy="533400"/>
          </a:xfrm>
          <a:prstGeom prst="rect">
            <a:avLst/>
          </a:prstGeom>
        </p:spPr>
      </p:pic>
      <p:sp>
        <p:nvSpPr>
          <p:cNvPr id="706" name="-1">
            <a:extLst>
              <a:ext uri="{FF2B5EF4-FFF2-40B4-BE49-F238E27FC236}">
                <a16:creationId xmlns:a16="http://schemas.microsoft.com/office/drawing/2014/main" id="{05D7A454-7061-758D-9ABE-36106F6A3B6B}"/>
              </a:ext>
            </a:extLst>
          </p:cNvPr>
          <p:cNvSpPr txBox="1"/>
          <p:nvPr/>
        </p:nvSpPr>
        <p:spPr>
          <a:xfrm>
            <a:off x="9502712" y="3708178"/>
            <a:ext cx="323850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spc="19" dirty="0">
                <a:solidFill>
                  <a:srgbClr val="181C24">
                    <a:alpha val="100000"/>
                  </a:srgbClr>
                </a:solidFill>
                <a:latin typeface="Noto Serif SemiBold" panose="00000700000000000000" pitchFamily="2" charset="0"/>
              </a:rPr>
              <a:t>02</a:t>
            </a:r>
          </a:p>
        </p:txBody>
      </p:sp>
      <p:pic>
        <p:nvPicPr>
          <p:cNvPr id="6" name="Rect">
            <a:extLst>
              <a:ext uri="{FF2B5EF4-FFF2-40B4-BE49-F238E27FC236}">
                <a16:creationId xmlns:a16="http://schemas.microsoft.com/office/drawing/2014/main" id="{8BAE369E-1A1C-E38F-E81D-0DA614AAFF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 rot="16200000">
            <a:off x="-29362" y="4686841"/>
            <a:ext cx="5715000" cy="5715000"/>
          </a:xfrm>
          <a:prstGeom prst="rect">
            <a:avLst/>
          </a:prstGeom>
        </p:spPr>
      </p:pic>
      <p:pic>
        <p:nvPicPr>
          <p:cNvPr id="714" name="Rect">
            <a:extLst>
              <a:ext uri="{FF2B5EF4-FFF2-40B4-BE49-F238E27FC236}">
                <a16:creationId xmlns:a16="http://schemas.microsoft.com/office/drawing/2014/main" id="{5B1168B2-846C-E49D-E7C6-E46093F279B2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/>
          </a:blip>
          <a:stretch/>
        </p:blipFill>
        <p:spPr>
          <a:xfrm>
            <a:off x="1409700" y="6305550"/>
            <a:ext cx="533400" cy="533400"/>
          </a:xfrm>
          <a:prstGeom prst="rect">
            <a:avLst/>
          </a:prstGeom>
        </p:spPr>
      </p:pic>
      <p:sp>
        <p:nvSpPr>
          <p:cNvPr id="710" name="Primary Heading-2">
            <a:extLst>
              <a:ext uri="{FF2B5EF4-FFF2-40B4-BE49-F238E27FC236}">
                <a16:creationId xmlns:a16="http://schemas.microsoft.com/office/drawing/2014/main" id="{6681EF4D-5296-BB49-453B-F86CF4BA5385}"/>
              </a:ext>
            </a:extLst>
          </p:cNvPr>
          <p:cNvSpPr txBox="1"/>
          <p:nvPr/>
        </p:nvSpPr>
        <p:spPr>
          <a:xfrm>
            <a:off x="111793" y="6173425"/>
            <a:ext cx="564832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Word Embeddings</a:t>
            </a:r>
          </a:p>
        </p:txBody>
      </p:sp>
      <p:sp>
        <p:nvSpPr>
          <p:cNvPr id="716" name="-2">
            <a:extLst>
              <a:ext uri="{FF2B5EF4-FFF2-40B4-BE49-F238E27FC236}">
                <a16:creationId xmlns:a16="http://schemas.microsoft.com/office/drawing/2014/main" id="{531396DF-10D3-F26D-9B3E-42E3534EE9F8}"/>
              </a:ext>
            </a:extLst>
          </p:cNvPr>
          <p:cNvSpPr txBox="1"/>
          <p:nvPr/>
        </p:nvSpPr>
        <p:spPr>
          <a:xfrm>
            <a:off x="1449476" y="5681496"/>
            <a:ext cx="546797" cy="35907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400" spc="19" dirty="0">
                <a:solidFill>
                  <a:srgbClr val="181C24">
                    <a:alpha val="100000"/>
                  </a:srgbClr>
                </a:solidFill>
                <a:latin typeface="Noto Serif SemiBold" panose="00000700000000000000" pitchFamily="2" charset="0"/>
              </a:rPr>
              <a:t>02</a:t>
            </a:r>
            <a:endParaRPr lang="en-US" sz="2000" spc="19" dirty="0">
              <a:solidFill>
                <a:srgbClr val="181C24">
                  <a:alpha val="100000"/>
                </a:srgbClr>
              </a:solidFill>
              <a:latin typeface="Noto Serif SemiBold" panose="00000700000000000000" pitchFamily="2" charset="0"/>
            </a:endParaRPr>
          </a:p>
        </p:txBody>
      </p:sp>
      <p:sp>
        <p:nvSpPr>
          <p:cNvPr id="712" name="Description of a primary heading-2">
            <a:extLst>
              <a:ext uri="{FF2B5EF4-FFF2-40B4-BE49-F238E27FC236}">
                <a16:creationId xmlns:a16="http://schemas.microsoft.com/office/drawing/2014/main" id="{A84A02E4-4FAC-83AE-3294-FEA68EAE02CF}"/>
              </a:ext>
            </a:extLst>
          </p:cNvPr>
          <p:cNvSpPr txBox="1"/>
          <p:nvPr/>
        </p:nvSpPr>
        <p:spPr>
          <a:xfrm>
            <a:off x="69862" y="6816312"/>
            <a:ext cx="7704437" cy="276998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Converts text data into numerical format for model input.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u="heavy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>
                <a:solidFill>
                  <a:srgbClr val="CECBBE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Tfidf = TfidfVectorizer (max_features=5000)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Term Frequency (TF) counts how often a word appears in a document.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Helps the model focus on unique and meaningful words in reviews</a:t>
            </a:r>
          </a:p>
        </p:txBody>
      </p:sp>
      <p:pic>
        <p:nvPicPr>
          <p:cNvPr id="718" name="imageNode3">
            <a:extLst>
              <a:ext uri="{FF2B5EF4-FFF2-40B4-BE49-F238E27FC236}">
                <a16:creationId xmlns:a16="http://schemas.microsoft.com/office/drawing/2014/main" id="{6449301F-4072-BF82-7002-1A1CCCD60FE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42">
            <a:alphaModFix/>
          </a:blip>
          <a:stretch/>
        </p:blipFill>
        <p:spPr>
          <a:xfrm>
            <a:off x="15415355" y="6687407"/>
            <a:ext cx="1466850" cy="1466850"/>
          </a:xfrm>
          <a:prstGeom prst="rect">
            <a:avLst/>
          </a:prstGeom>
        </p:spPr>
      </p:pic>
      <p:sp>
        <p:nvSpPr>
          <p:cNvPr id="720" name="Primary Heading-3">
            <a:extLst>
              <a:ext uri="{FF2B5EF4-FFF2-40B4-BE49-F238E27FC236}">
                <a16:creationId xmlns:a16="http://schemas.microsoft.com/office/drawing/2014/main" id="{7BFEBEAD-B14B-CC74-A144-C85D43F03AF2}"/>
              </a:ext>
            </a:extLst>
          </p:cNvPr>
          <p:cNvSpPr txBox="1"/>
          <p:nvPr/>
        </p:nvSpPr>
        <p:spPr>
          <a:xfrm>
            <a:off x="9372600" y="7021735"/>
            <a:ext cx="5648325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42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Business Growth</a:t>
            </a:r>
          </a:p>
        </p:txBody>
      </p:sp>
      <p:sp>
        <p:nvSpPr>
          <p:cNvPr id="722" name="Description of a primary heading-3">
            <a:extLst>
              <a:ext uri="{FF2B5EF4-FFF2-40B4-BE49-F238E27FC236}">
                <a16:creationId xmlns:a16="http://schemas.microsoft.com/office/drawing/2014/main" id="{D1E84FBA-97C2-8125-75D1-021075A649C8}"/>
              </a:ext>
            </a:extLst>
          </p:cNvPr>
          <p:cNvSpPr txBox="1"/>
          <p:nvPr/>
        </p:nvSpPr>
        <p:spPr>
          <a:xfrm>
            <a:off x="9372600" y="7490270"/>
            <a:ext cx="5648325" cy="1047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 spc="-18" dirty="0">
                <a:solidFill>
                  <a:srgbClr val="181C24">
                    <a:alpha val="100000"/>
                  </a:srgbClr>
                </a:solidFill>
                <a:latin typeface="IBM Plex Sans" panose="00000700000000000000" pitchFamily="2" charset="0"/>
              </a:rPr>
              <a:t>Companies leveraging Presentations.AI have noted an increase in successful pitches and proposals, contributing to significant revenue growth.</a:t>
            </a:r>
          </a:p>
        </p:txBody>
      </p:sp>
      <p:pic>
        <p:nvPicPr>
          <p:cNvPr id="724" name="Rect">
            <a:extLst>
              <a:ext uri="{FF2B5EF4-FFF2-40B4-BE49-F238E27FC236}">
                <a16:creationId xmlns:a16="http://schemas.microsoft.com/office/drawing/2014/main" id="{BD69C6FA-7DAD-6FF7-E025-07BB2691D295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/>
          </a:blip>
          <a:stretch/>
        </p:blipFill>
        <p:spPr>
          <a:xfrm>
            <a:off x="9372600" y="6305550"/>
            <a:ext cx="533400" cy="533400"/>
          </a:xfrm>
          <a:prstGeom prst="rect">
            <a:avLst/>
          </a:prstGeom>
        </p:spPr>
      </p:pic>
      <p:sp>
        <p:nvSpPr>
          <p:cNvPr id="726" name="-3">
            <a:extLst>
              <a:ext uri="{FF2B5EF4-FFF2-40B4-BE49-F238E27FC236}">
                <a16:creationId xmlns:a16="http://schemas.microsoft.com/office/drawing/2014/main" id="{E2464263-256E-7C47-0CC0-E2F674CA1855}"/>
              </a:ext>
            </a:extLst>
          </p:cNvPr>
          <p:cNvSpPr txBox="1"/>
          <p:nvPr/>
        </p:nvSpPr>
        <p:spPr>
          <a:xfrm>
            <a:off x="9502712" y="6392132"/>
            <a:ext cx="323850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spc="19" dirty="0">
                <a:solidFill>
                  <a:srgbClr val="181C24">
                    <a:alpha val="100000"/>
                  </a:srgbClr>
                </a:solidFill>
                <a:latin typeface="Noto Serif SemiBold" panose="00000700000000000000" pitchFamily="2" charset="0"/>
              </a:rPr>
              <a:t>04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D6AEC9-8F28-EE76-6CB5-26BA2EEFDFD8}"/>
              </a:ext>
            </a:extLst>
          </p:cNvPr>
          <p:cNvPicPr>
            <a:picLocks noChangeAspect="1"/>
          </p:cNvPicPr>
          <p:nvPr/>
        </p:nvPicPr>
        <p:blipFill>
          <a:blip r:embed="rId2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9" t="2339" r="3378" b="7953"/>
          <a:stretch/>
        </p:blipFill>
        <p:spPr>
          <a:xfrm>
            <a:off x="9167812" y="4018"/>
            <a:ext cx="9107906" cy="10314015"/>
          </a:xfrm>
          <a:prstGeom prst="rect">
            <a:avLst/>
          </a:prstGeom>
          <a:solidFill>
            <a:srgbClr val="ECF2FF"/>
          </a:solidFill>
        </p:spPr>
      </p:pic>
      <p:sp>
        <p:nvSpPr>
          <p:cNvPr id="728" name="Click here to edit title-418">
            <a:extLst>
              <a:ext uri="{FF2B5EF4-FFF2-40B4-BE49-F238E27FC236}">
                <a16:creationId xmlns:a16="http://schemas.microsoft.com/office/drawing/2014/main" id="{639FECD7-70B5-9A5E-80EC-F56D14740E95}"/>
              </a:ext>
            </a:extLst>
          </p:cNvPr>
          <p:cNvSpPr txBox="1"/>
          <p:nvPr/>
        </p:nvSpPr>
        <p:spPr>
          <a:xfrm>
            <a:off x="-221655" y="50089"/>
            <a:ext cx="9282687" cy="120706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Data Preprocessing </a:t>
            </a:r>
          </a:p>
        </p:txBody>
      </p:sp>
    </p:spTree>
    <p:extLst>
      <p:ext uri="{BB962C8B-B14F-4D97-AF65-F5344CB8AC3E}">
        <p14:creationId xmlns:p14="http://schemas.microsoft.com/office/powerpoint/2010/main" val="69277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6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14" dur="1200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9" dur="1200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63889E-6 0.0463 L 2.63889E-6 -3.45679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02778E-6 0.0463 L 4.02778E-6 -3.08642E-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295136 L 0 -1.1585377E-06 E" pathEditMode="relative" ptsTypes="">
                                      <p:cBhvr>
                                        <p:cTn id="34" dur="100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47222E-6 0.0463 L -3.47222E-6 2.77556E-17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6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1.9709269E-06 0.046298612 L -1.9709269E-06 2.3170753E-06 E" pathEditMode="relative" ptsTypes="">
                                      <p:cBhvr>
                                        <p:cTn id="44" dur="1000" fill="hold"/>
                                        <p:tgtEl>
                                          <p:spTgt spid="6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 0.04629282 L 0 -3.475613E-06 E" pathEditMode="relative" ptsTypes="">
                                      <p:cBhvr>
                                        <p:cTn id="49" dur="10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 0.04629977 L 0 3.475613E-06 E" pathEditMode="relative" ptsTypes="">
                                      <p:cBhvr>
                                        <p:cTn id="54" dur="100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 0.046295136 L 0 -1.1585377E-06 E" pathEditMode="relative" ptsTypes="">
                                      <p:cBhvr>
                                        <p:cTn id="59" dur="1000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1.9391377E-06 0.046298612 L -1.9391377E-06 2.3170753E-06 E" pathEditMode="relative" ptsTypes="">
                                      <p:cBhvr>
                                        <p:cTn id="64" dur="1000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-3.47222E-6 0.0463 L -3.47222E-6 -2.59259E-6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2.77778E-7 0.0463 L 2.77778E-7 -2.22222E-6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79" dur="1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-4.02778E-6 0.0463 L -4.02778E-6 -3.08642E-6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-1.9709269E-06 0.046299744 L -1.9709269E-06 3.447356E-06 E" pathEditMode="relative" ptsTypes="">
                                      <p:cBhvr>
                                        <p:cTn id="89" dur="1000" fill="hold"/>
                                        <p:tgtEl>
                                          <p:spTgt spid="7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.046293978 L 0 -2.3170753E-06 E" pathEditMode="relative" ptsTypes="">
                                      <p:cBhvr>
                                        <p:cTn id="94" dur="10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.04629166 L 0 -4.6341506E-06 E" pathEditMode="relative" ptsTypes="">
                                      <p:cBhvr>
                                        <p:cTn id="99" dur="10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104" dur="1000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-1.9391377E-06 0.046299744 L -1.9391377E-06 3.447356E-06 E" pathEditMode="relative" ptsTypes="">
                                      <p:cBhvr>
                                        <p:cTn id="109" dur="10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3.33333E-6 0.0463 L 3.33333E-6 -2.46914E-7 " pathEditMode="relative" rAng="0" ptsTypes="AA">
                                      <p:cBhvr>
                                        <p:cTn id="114" dur="600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19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" grpId="0"/>
      <p:bldP spid="682" grpId="0"/>
      <p:bldP spid="684" grpId="0"/>
      <p:bldP spid="694" grpId="0"/>
      <p:bldP spid="696" grpId="0"/>
      <p:bldP spid="698" grpId="0"/>
      <p:bldP spid="692" grpId="0"/>
      <p:bldP spid="690" grpId="0"/>
      <p:bldP spid="700" grpId="0"/>
      <p:bldP spid="702" grpId="0"/>
      <p:bldP spid="704" grpId="0"/>
      <p:bldP spid="706" grpId="0"/>
      <p:bldP spid="6" grpId="0"/>
      <p:bldP spid="714" grpId="0"/>
      <p:bldP spid="710" grpId="0"/>
      <p:bldP spid="716" grpId="0"/>
      <p:bldP spid="712" grpId="0"/>
      <p:bldP spid="718" grpId="0"/>
      <p:bldP spid="720" grpId="0"/>
      <p:bldP spid="722" grpId="0"/>
      <p:bldP spid="724" grpId="0"/>
      <p:bldP spid="726" grpId="0"/>
      <p:bldP spid="7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-3626" y="-30169"/>
            <a:ext cx="7456275" cy="5715000"/>
          </a:xfrm>
          <a:prstGeom prst="rect">
            <a:avLst/>
          </a:prstGeom>
        </p:spPr>
      </p:pic>
      <p:pic>
        <p:nvPicPr>
          <p:cNvPr id="5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8046815" y="0"/>
            <a:ext cx="10239375" cy="10287000"/>
          </a:xfrm>
          <a:prstGeom prst="rect">
            <a:avLst/>
          </a:prstGeom>
        </p:spPr>
      </p:pic>
      <p:pic>
        <p:nvPicPr>
          <p:cNvPr id="550" name="layoutShapeInnerChild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C9D730FB-D099-412A-99A7-40B0614AAB0B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41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15963900" y="10282981"/>
            <a:ext cx="2324100" cy="220262"/>
          </a:xfrm>
          <a:prstGeom prst="rect">
            <a:avLst/>
          </a:prstGeom>
        </p:spPr>
      </p:pic>
      <p:pic>
        <p:nvPicPr>
          <p:cNvPr id="552" name="layoutShapeInnerChild9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2">
            <a:alphaModFix/>
            <a:extLst>
              <a:ext uri="{8F734941-018C-4491-96EE-07E2821B2F49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44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-3626" y="-24536"/>
            <a:ext cx="2406493" cy="5143500"/>
          </a:xfrm>
          <a:prstGeom prst="rect">
            <a:avLst/>
          </a:prstGeom>
        </p:spPr>
      </p:pic>
      <p:pic>
        <p:nvPicPr>
          <p:cNvPr id="554" name="d46a6180-f41f-481f-aaae-07d2a87bf9e6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45">
            <a:alphaModFix/>
          </a:blip>
          <a:stretch/>
        </p:blipFill>
        <p:spPr>
          <a:xfrm>
            <a:off x="6412" y="-996578"/>
            <a:ext cx="18553481" cy="10287000"/>
          </a:xfrm>
          <a:prstGeom prst="rect">
            <a:avLst/>
          </a:prstGeom>
          <a:ln>
            <a:noFill/>
          </a:ln>
        </p:spPr>
      </p:pic>
      <p:pic>
        <p:nvPicPr>
          <p:cNvPr id="5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6">
            <a:alphaModFix/>
          </a:blip>
          <a:stretch/>
        </p:blipFill>
        <p:spPr>
          <a:xfrm>
            <a:off x="209062" y="6403730"/>
            <a:ext cx="781050" cy="947554"/>
          </a:xfrm>
          <a:prstGeom prst="rect">
            <a:avLst/>
          </a:prstGeom>
        </p:spPr>
      </p:pic>
      <p:pic>
        <p:nvPicPr>
          <p:cNvPr id="558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">
            <a:alphaModFix/>
            <a:extLst>
              <a:ext uri="{F4670B2D-4F83-43B2-8F37-8E9980210A4F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51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403396" y="6597945"/>
            <a:ext cx="388620" cy="471466"/>
          </a:xfrm>
          <a:prstGeom prst="rect">
            <a:avLst/>
          </a:prstGeom>
        </p:spPr>
      </p:pic>
      <p:sp>
        <p:nvSpPr>
          <p:cNvPr id="56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12" y="7546214"/>
            <a:ext cx="3340255" cy="43088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Model Selection </a:t>
            </a:r>
          </a:p>
        </p:txBody>
      </p:sp>
      <p:sp>
        <p:nvSpPr>
          <p:cNvPr id="56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41" y="8033797"/>
            <a:ext cx="2451582" cy="101059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736"/>
              </a:lnSpc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Logistic Regression performed best on this dataset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2">
            <a:alphaModFix/>
          </a:blip>
          <a:stretch/>
        </p:blipFill>
        <p:spPr>
          <a:xfrm>
            <a:off x="3718325" y="6482530"/>
            <a:ext cx="781050" cy="947554"/>
          </a:xfrm>
          <a:prstGeom prst="rect">
            <a:avLst/>
          </a:prstGeom>
        </p:spPr>
      </p:pic>
      <p:pic>
        <p:nvPicPr>
          <p:cNvPr id="564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3">
            <a:alphaModFix/>
            <a:extLst>
              <a:ext uri="{5077C3D6-B559-4563-AD19-C3CF5A78DD8E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56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3912659" y="6676745"/>
            <a:ext cx="388620" cy="471466"/>
          </a:xfrm>
          <a:prstGeom prst="rect">
            <a:avLst/>
          </a:prstGeom>
        </p:spPr>
      </p:pic>
      <p:sp>
        <p:nvSpPr>
          <p:cNvPr id="56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458573" y="7571731"/>
            <a:ext cx="3026495" cy="43088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Accuracy</a:t>
            </a:r>
            <a:endParaRPr 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56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90610" y="8059316"/>
            <a:ext cx="3651300" cy="123110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 Accuracy is ~91%</a:t>
            </a:r>
          </a:p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model demonstrates high reliability in predicting sentiment correctly.</a:t>
            </a:r>
          </a:p>
        </p:txBody>
      </p:sp>
      <p:pic>
        <p:nvPicPr>
          <p:cNvPr id="5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">
            <a:alphaModFix/>
          </a:blip>
          <a:stretch/>
        </p:blipFill>
        <p:spPr>
          <a:xfrm>
            <a:off x="6916935" y="6482743"/>
            <a:ext cx="781050" cy="947554"/>
          </a:xfrm>
          <a:prstGeom prst="rect">
            <a:avLst/>
          </a:prstGeom>
        </p:spPr>
      </p:pic>
      <p:pic>
        <p:nvPicPr>
          <p:cNvPr id="570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8">
            <a:alphaModFix/>
            <a:extLst>
              <a:ext uri="{6D7D6EF2-99E6-4EC8-9A1F-E87367700575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61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7111264" y="6676958"/>
            <a:ext cx="388620" cy="471466"/>
          </a:xfrm>
          <a:prstGeom prst="rect">
            <a:avLst/>
          </a:prstGeom>
        </p:spPr>
      </p:pic>
      <p:sp>
        <p:nvSpPr>
          <p:cNvPr id="57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916935" y="7505838"/>
            <a:ext cx="2627601" cy="43088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Metrics</a:t>
            </a:r>
            <a:endParaRPr lang="en-US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57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28854" y="7993423"/>
            <a:ext cx="3088867" cy="123110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Precision, Recall, F1-Score</a:t>
            </a:r>
          </a:p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Used to ensure balanced performance across all sentiment classes.</a:t>
            </a:r>
          </a:p>
        </p:txBody>
      </p:sp>
      <p:pic>
        <p:nvPicPr>
          <p:cNvPr id="5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2">
            <a:alphaModFix/>
          </a:blip>
          <a:stretch/>
        </p:blipFill>
        <p:spPr>
          <a:xfrm>
            <a:off x="10381847" y="6475341"/>
            <a:ext cx="781050" cy="947554"/>
          </a:xfrm>
          <a:prstGeom prst="rect">
            <a:avLst/>
          </a:prstGeom>
        </p:spPr>
      </p:pic>
      <p:pic>
        <p:nvPicPr>
          <p:cNvPr id="576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">
            <a:alphaModFix/>
            <a:extLst>
              <a:ext uri="{0395B2D7-7B4F-44CF-B1B9-F7FD849DC6C5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66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576176" y="6669556"/>
            <a:ext cx="388620" cy="471466"/>
          </a:xfrm>
          <a:prstGeom prst="rect">
            <a:avLst/>
          </a:prstGeom>
        </p:spPr>
      </p:pic>
      <p:sp>
        <p:nvSpPr>
          <p:cNvPr id="57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288236" y="7505837"/>
            <a:ext cx="3656702" cy="43088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Save the Model</a:t>
            </a:r>
          </a:p>
        </p:txBody>
      </p:sp>
      <p:sp>
        <p:nvSpPr>
          <p:cNvPr id="57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400155" y="7993423"/>
            <a:ext cx="3088867" cy="135684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736"/>
              </a:lnSpc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Joblib is used to efficiently save and load machine learning models for deployment.</a:t>
            </a:r>
          </a:p>
        </p:txBody>
      </p:sp>
      <p:sp>
        <p:nvSpPr>
          <p:cNvPr id="580" name="Click here to edit title-40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5380" y="678787"/>
            <a:ext cx="16964025" cy="92333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Model Selection And Training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B7BAAB-4049-45A7-22A2-02F79D1CA0D9}"/>
              </a:ext>
            </a:extLst>
          </p:cNvPr>
          <p:cNvPicPr>
            <a:picLocks noChangeAspect="1"/>
          </p:cNvPicPr>
          <p:nvPr/>
        </p:nvPicPr>
        <p:blipFill>
          <a:blip r:embed="rId167"/>
          <a:srcRect l="2811" r="15264"/>
          <a:stretch/>
        </p:blipFill>
        <p:spPr>
          <a:xfrm>
            <a:off x="12860704" y="5631775"/>
            <a:ext cx="5358896" cy="38288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14" dur="1200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9" dur="1200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24" dur="1200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29" dur="6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2.5E-6 0.04629 L -2.5E-6 1.48148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1.11111E-6 0.04629 L 1.11111E-6 2.46914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4" presetClass="path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-2.77778E-6 0.0463 L -2.77778E-6 -2.46914E-7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4.02778E-6 0.0463 L 4.02778E-6 -3.58025E-6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4" presetClass="path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4.02778E-6 0.0463 L 4.02778E-6 -4.5679E-6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4" presetClass="path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8.33333E-7 0.0463 L 8.33333E-7 -3.58025E-6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accel="50000" decel="5000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4" presetClass="path" presetSubtype="0" accel="50000" decel="5000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animMotion origin="layout" path="M -2.5E-6 0.0463 L -2.5E-6 -2.96296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4" presetClass="path" presetSubtype="0" accel="50000" decel="5000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animMotion origin="layout" path="M 1.11111E-6 0.0463 L 1.11111E-6 -1.97531E-6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accel="50000" decel="5000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accel="50000" decel="5000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4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08333E-6 0.0463 L -2.08333E-6 -3.7037E-6 " pathEditMode="relative" rAng="0" ptsTypes="AA">
                                      <p:cBhvr>
                                        <p:cTn id="98" dur="600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" grpId="0"/>
      <p:bldP spid="548" grpId="0"/>
      <p:bldP spid="550" grpId="0"/>
      <p:bldP spid="552" grpId="0"/>
      <p:bldP spid="554" grpId="0"/>
      <p:bldP spid="556" grpId="0"/>
      <p:bldP spid="558" grpId="0"/>
      <p:bldP spid="560" grpId="0"/>
      <p:bldP spid="561" grpId="0"/>
      <p:bldP spid="562" grpId="0"/>
      <p:bldP spid="564" grpId="0"/>
      <p:bldP spid="566" grpId="0"/>
      <p:bldP spid="567" grpId="0"/>
      <p:bldP spid="568" grpId="0"/>
      <p:bldP spid="570" grpId="0"/>
      <p:bldP spid="572" grpId="0"/>
      <p:bldP spid="573" grpId="0"/>
      <p:bldP spid="574" grpId="0"/>
      <p:bldP spid="576" grpId="0"/>
      <p:bldP spid="578" grpId="0"/>
      <p:bldP spid="579" grpId="0"/>
      <p:bldP spid="58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0"/>
            <a:ext cx="6667500" cy="6667500"/>
          </a:xfrm>
          <a:prstGeom prst="rect">
            <a:avLst/>
          </a:prstGeom>
        </p:spPr>
      </p:pic>
      <p:pic>
        <p:nvPicPr>
          <p:cNvPr id="7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8046815" y="0"/>
            <a:ext cx="10239375" cy="10287000"/>
          </a:xfrm>
          <a:prstGeom prst="rect">
            <a:avLst/>
          </a:prstGeom>
        </p:spPr>
      </p:pic>
      <p:pic>
        <p:nvPicPr>
          <p:cNvPr id="7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3200400" y="0"/>
            <a:ext cx="8782050" cy="10287000"/>
          </a:xfrm>
          <a:prstGeom prst="rect">
            <a:avLst/>
          </a:prstGeom>
        </p:spPr>
      </p:pic>
      <p:pic>
        <p:nvPicPr>
          <p:cNvPr id="743" name="9746b239-7336-4655-813a-d624444f8b1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-1" y="12356"/>
            <a:ext cx="20133557" cy="10327823"/>
          </a:xfrm>
          <a:prstGeom prst="rect">
            <a:avLst/>
          </a:prstGeom>
        </p:spPr>
      </p:pic>
      <p:pic>
        <p:nvPicPr>
          <p:cNvPr id="74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0" y="0"/>
            <a:ext cx="6162824" cy="10287000"/>
          </a:xfrm>
          <a:prstGeom prst="rect">
            <a:avLst/>
          </a:prstGeom>
        </p:spPr>
      </p:pic>
      <p:pic>
        <p:nvPicPr>
          <p:cNvPr id="74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</a:blip>
          <a:stretch/>
        </p:blipFill>
        <p:spPr>
          <a:xfrm>
            <a:off x="0" y="0"/>
            <a:ext cx="6162824" cy="10287000"/>
          </a:xfrm>
          <a:prstGeom prst="rect">
            <a:avLst/>
          </a:prstGeom>
        </p:spPr>
      </p:pic>
      <p:pic>
        <p:nvPicPr>
          <p:cNvPr id="7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10075069" y="1467892"/>
            <a:ext cx="1047750" cy="1047750"/>
          </a:xfrm>
          <a:prstGeom prst="rect">
            <a:avLst/>
          </a:prstGeom>
        </p:spPr>
      </p:pic>
      <p:pic>
        <p:nvPicPr>
          <p:cNvPr id="753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  <a:extLst>
              <a:ext uri="{D4D4DB0F-0FF0-4B92-97D7-04BBF492C349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81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337864" y="1730883"/>
            <a:ext cx="525685" cy="525685"/>
          </a:xfrm>
          <a:prstGeom prst="rect">
            <a:avLst/>
          </a:prstGeom>
        </p:spPr>
      </p:pic>
      <p:sp>
        <p:nvSpPr>
          <p:cNvPr id="75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28331" y="1315989"/>
            <a:ext cx="7411979" cy="49244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buClr>
                <a:srgbClr val="0C0C0C"/>
              </a:buClr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Model </a:t>
            </a: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Developed Using Streamlit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75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01953" y="1953625"/>
            <a:ext cx="6088338" cy="188932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marL="285750" indent="-285750">
              <a:buClr>
                <a:srgbClr val="0C0C0C"/>
              </a:buClr>
              <a:buFont typeface="Wingdings" panose="05000000000000000000" pitchFamily="2" charset="2"/>
              <a:buChar char="Ø"/>
            </a:pPr>
            <a:r>
              <a:rPr lang="en-US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app was built with Streamlit for an interactive and responsive web interface.</a:t>
            </a:r>
          </a:p>
          <a:p>
            <a:pPr marL="285750" indent="-285750">
              <a:buClr>
                <a:srgbClr val="0C0C0C"/>
              </a:buClr>
              <a:buFont typeface="Wingdings" panose="05000000000000000000" pitchFamily="2" charset="2"/>
              <a:buChar char="Ø"/>
            </a:pPr>
            <a:r>
              <a:rPr lang="en-US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Frontend: Streamlit    Backend: Python</a:t>
            </a:r>
          </a:p>
          <a:p>
            <a:pPr marL="285750" indent="-285750">
              <a:buClr>
                <a:srgbClr val="0C0C0C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Libraries Used: streamlit, pandas, scikit-learn, joblib, nltk, re, numpy</a:t>
            </a:r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2">
            <a:alphaModFix/>
          </a:blip>
          <a:stretch/>
        </p:blipFill>
        <p:spPr>
          <a:xfrm>
            <a:off x="11489236" y="4617690"/>
            <a:ext cx="1047750" cy="1047750"/>
          </a:xfrm>
          <a:prstGeom prst="rect">
            <a:avLst/>
          </a:prstGeom>
        </p:spPr>
      </p:pic>
      <p:pic>
        <p:nvPicPr>
          <p:cNvPr id="759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3">
            <a:alphaModFix/>
            <a:extLst>
              <a:ext uri="{662A36FD-0B8A-450F-AD6B-583F57E166DB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86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1752231" y="4880515"/>
            <a:ext cx="525685" cy="525685"/>
          </a:xfrm>
          <a:prstGeom prst="rect">
            <a:avLst/>
          </a:prstGeom>
        </p:spPr>
      </p:pic>
      <p:sp>
        <p:nvSpPr>
          <p:cNvPr id="76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91223" y="4634293"/>
            <a:ext cx="5667295" cy="49244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buClr>
                <a:srgbClr val="0C0C0C"/>
              </a:buClr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Deployed on Streamlit Cloud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Rect">
            <a:extLst>
              <a:ext uri="{FF2B5EF4-FFF2-40B4-BE49-F238E27FC236}">
                <a16:creationId xmlns:a16="http://schemas.microsoft.com/office/drawing/2014/main" id="{945560B4-896D-6608-B4BC-13E24E06C734}"/>
              </a:ext>
            </a:extLst>
          </p:cNvPr>
          <p:cNvPicPr>
            <a:picLocks noChangeAspect="1"/>
          </p:cNvPicPr>
          <p:nvPr/>
        </p:nvPicPr>
        <p:blipFill rotWithShape="1">
          <a:blip r:embed="rId287">
            <a:alphaModFix/>
          </a:blip>
          <a:stretch/>
        </p:blipFill>
        <p:spPr>
          <a:xfrm>
            <a:off x="-37969" y="0"/>
            <a:ext cx="5715000" cy="5715000"/>
          </a:xfrm>
          <a:prstGeom prst="rect">
            <a:avLst/>
          </a:prstGeom>
        </p:spPr>
      </p:pic>
      <p:sp>
        <p:nvSpPr>
          <p:cNvPr id="76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55628" y="5406200"/>
            <a:ext cx="5534663" cy="2215991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Hosted on Streamlit Cloud, a free and easy-to-use platform for deploying Python apps online.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Always Live &amp; Shareable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GitHub Integration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Auto Deployment on Push</a:t>
            </a:r>
          </a:p>
        </p:txBody>
      </p:sp>
      <p:pic>
        <p:nvPicPr>
          <p:cNvPr id="7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8">
            <a:alphaModFix/>
          </a:blip>
          <a:stretch/>
        </p:blipFill>
        <p:spPr>
          <a:xfrm>
            <a:off x="10075069" y="7767340"/>
            <a:ext cx="1047750" cy="1047750"/>
          </a:xfrm>
          <a:prstGeom prst="rect">
            <a:avLst/>
          </a:prstGeom>
        </p:spPr>
      </p:pic>
      <p:pic>
        <p:nvPicPr>
          <p:cNvPr id="765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9">
            <a:alphaModFix/>
            <a:extLst>
              <a:ext uri="{EE3D5EA0-4990-4A20-B600-3C9CEB1A5079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91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337864" y="8030146"/>
            <a:ext cx="525685" cy="525685"/>
          </a:xfrm>
          <a:prstGeom prst="rect">
            <a:avLst/>
          </a:prstGeom>
        </p:spPr>
      </p:pic>
      <p:sp>
        <p:nvSpPr>
          <p:cNvPr id="76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77691" y="7935994"/>
            <a:ext cx="7411979" cy="49244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buClr>
                <a:srgbClr val="0C0C0C"/>
              </a:buClr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Instant Sentiment Prediction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76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527637" y="8603929"/>
            <a:ext cx="6029325" cy="110799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marL="285750" indent="-285750">
              <a:buClr>
                <a:srgbClr val="0C0C0C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 predicts reviews based on inputs.</a:t>
            </a:r>
          </a:p>
          <a:p>
            <a:pPr marL="285750" indent="-285750">
              <a:buClr>
                <a:srgbClr val="0C0C0C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Prediction Output:</a:t>
            </a:r>
          </a:p>
          <a:p>
            <a:pPr marL="285750" indent="-285750">
              <a:buClr>
                <a:srgbClr val="0C0C0C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Positive, Neutral, Negative</a:t>
            </a:r>
          </a:p>
        </p:txBody>
      </p:sp>
      <p:pic>
        <p:nvPicPr>
          <p:cNvPr id="8" name="Rect">
            <a:extLst>
              <a:ext uri="{FF2B5EF4-FFF2-40B4-BE49-F238E27FC236}">
                <a16:creationId xmlns:a16="http://schemas.microsoft.com/office/drawing/2014/main" id="{E07734C8-8995-2902-D49E-50E4A6EFBC2D}"/>
              </a:ext>
            </a:extLst>
          </p:cNvPr>
          <p:cNvPicPr>
            <a:picLocks noChangeAspect="1"/>
          </p:cNvPicPr>
          <p:nvPr/>
        </p:nvPicPr>
        <p:blipFill rotWithShape="1">
          <a:blip r:embed="rId287">
            <a:alphaModFix/>
          </a:blip>
          <a:stretch/>
        </p:blipFill>
        <p:spPr>
          <a:xfrm rot="16200000">
            <a:off x="56355" y="4753594"/>
            <a:ext cx="5433456" cy="571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150FEE-75A8-EBB4-0325-19CC7BEF7E3B}"/>
              </a:ext>
            </a:extLst>
          </p:cNvPr>
          <p:cNvPicPr>
            <a:picLocks noChangeAspect="1"/>
          </p:cNvPicPr>
          <p:nvPr/>
        </p:nvPicPr>
        <p:blipFill>
          <a:blip r:embed="rId292"/>
          <a:srcRect l="19243" t="5927" r="5331"/>
          <a:stretch/>
        </p:blipFill>
        <p:spPr>
          <a:xfrm>
            <a:off x="523178" y="2056327"/>
            <a:ext cx="5270028" cy="72182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69" name="Click here to edit title-42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-19060" y="333262"/>
            <a:ext cx="5938987" cy="184665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Deployment of the Model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14" dur="1200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19" dur="6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24" dur="60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29" dur="6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34" dur="6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39" dur="6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.04630093 L 0 4.6341506E-06 E" pathEditMode="relative" ptsTypes="">
                                      <p:cBhvr>
                                        <p:cTn id="44" dur="1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1.9709269E-06 0.046295136 L 1.9709269E-06 -1.1585377E-06 E" pathEditMode="relative" ptsTypes="">
                                      <p:cBhvr>
                                        <p:cTn id="49" dur="10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2.2888185E-06 0.046293415 L 2.2888185E-06 -2.8822158E-06 E" pathEditMode="relative" ptsTypes="">
                                      <p:cBhvr>
                                        <p:cTn id="60" dur="10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4" presetClass="path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-9.536743E-07 0.04629686 L -9.536743E-07 5.6514034E-07 E" pathEditMode="relative" ptsTypes="">
                                      <p:cBhvr>
                                        <p:cTn id="65" dur="1000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accel="50000" decel="5000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0 0.046295166 L 0 -1.1302807E-06 E" pathEditMode="relative" ptsTypes="">
                                      <p:cBhvr>
                                        <p:cTn id="76" dur="1000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4" presetClass="path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animMotion origin="layout" path="M 1.9709269E-06 0.046298612 L 1.9709269E-06 2.3170753E-06 E" pathEditMode="relative" ptsTypes="">
                                      <p:cBhvr>
                                        <p:cTn id="81" dur="10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accel="50000" decel="5000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4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4.72222E-6 0.04629 L -4.72222E-6 2.09877E-6 " pathEditMode="relative" rAng="0" ptsTypes="AA">
                                      <p:cBhvr>
                                        <p:cTn id="92" dur="6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7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02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" grpId="0"/>
      <p:bldP spid="739" grpId="0"/>
      <p:bldP spid="741" grpId="0"/>
      <p:bldP spid="743" grpId="0"/>
      <p:bldP spid="745" grpId="0"/>
      <p:bldP spid="747" grpId="0"/>
      <p:bldP spid="749" grpId="0"/>
      <p:bldP spid="751" grpId="0"/>
      <p:bldP spid="753" grpId="0"/>
      <p:bldP spid="755" grpId="0"/>
      <p:bldP spid="756" grpId="0"/>
      <p:bldP spid="757" grpId="0"/>
      <p:bldP spid="759" grpId="0"/>
      <p:bldP spid="761" grpId="0"/>
      <p:bldP spid="7" grpId="0"/>
      <p:bldP spid="762" grpId="0"/>
      <p:bldP spid="763" grpId="0"/>
      <p:bldP spid="765" grpId="0"/>
      <p:bldP spid="767" grpId="0"/>
      <p:bldP spid="768" grpId="0"/>
      <p:bldP spid="8" grpId="0"/>
      <p:bldP spid="76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-1810" y="-618235"/>
            <a:ext cx="18288000" cy="10901216"/>
          </a:xfrm>
          <a:prstGeom prst="rect">
            <a:avLst/>
          </a:prstGeom>
        </p:spPr>
      </p:pic>
      <p:pic>
        <p:nvPicPr>
          <p:cNvPr id="6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-38101" y="-469233"/>
            <a:ext cx="6354679" cy="10659979"/>
          </a:xfrm>
          <a:prstGeom prst="rect">
            <a:avLst/>
          </a:prstGeom>
        </p:spPr>
      </p:pic>
      <p:pic>
        <p:nvPicPr>
          <p:cNvPr id="6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8046815" y="0"/>
            <a:ext cx="10239375" cy="10287000"/>
          </a:xfrm>
          <a:prstGeom prst="rect">
            <a:avLst/>
          </a:prstGeom>
        </p:spPr>
      </p:pic>
      <p:pic>
        <p:nvPicPr>
          <p:cNvPr id="635" name="layoutShapeInnerChild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0304F72B-AB40-453D-B5DB-18AB6AB044F9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09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5963900" y="5448300"/>
            <a:ext cx="2324100" cy="4834681"/>
          </a:xfrm>
          <a:prstGeom prst="rect">
            <a:avLst/>
          </a:prstGeom>
        </p:spPr>
      </p:pic>
      <p:pic>
        <p:nvPicPr>
          <p:cNvPr id="637" name="layoutShapeInnerChild9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0">
            <a:alphaModFix/>
            <a:extLst>
              <a:ext uri="{04C67C64-22A1-4D24-8BE1-7BA3D5751A35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12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-5993" y="-356627"/>
            <a:ext cx="2309536" cy="5143500"/>
          </a:xfrm>
          <a:prstGeom prst="rect">
            <a:avLst/>
          </a:prstGeom>
        </p:spPr>
      </p:pic>
      <p:pic>
        <p:nvPicPr>
          <p:cNvPr id="6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3">
            <a:alphaModFix/>
          </a:blip>
          <a:stretch/>
        </p:blipFill>
        <p:spPr>
          <a:xfrm>
            <a:off x="1554079" y="2442239"/>
            <a:ext cx="7639050" cy="1823227"/>
          </a:xfrm>
          <a:prstGeom prst="rect">
            <a:avLst/>
          </a:prstGeom>
        </p:spPr>
      </p:pic>
      <p:sp>
        <p:nvSpPr>
          <p:cNvPr id="64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626624" y="2747062"/>
            <a:ext cx="5305425" cy="34624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Automated Review Sorting</a:t>
            </a:r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64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626624" y="3215501"/>
            <a:ext cx="530542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buClr>
                <a:schemeClr val="bg2">
                  <a:lumMod val="10000"/>
                </a:schemeClr>
              </a:buClr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Categorizes reviews as Positive, Negative, or Neutral for quick analysis.</a:t>
            </a:r>
          </a:p>
        </p:txBody>
      </p:sp>
      <p:pic>
        <p:nvPicPr>
          <p:cNvPr id="6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4">
            <a:alphaModFix/>
          </a:blip>
          <a:stretch/>
        </p:blipFill>
        <p:spPr>
          <a:xfrm>
            <a:off x="9383629" y="2442239"/>
            <a:ext cx="7639050" cy="1811884"/>
          </a:xfrm>
          <a:prstGeom prst="rect">
            <a:avLst/>
          </a:prstGeom>
        </p:spPr>
      </p:pic>
      <p:pic>
        <p:nvPicPr>
          <p:cNvPr id="649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15">
            <a:alphaModFix/>
          </a:blip>
          <a:stretch/>
        </p:blipFill>
        <p:spPr>
          <a:xfrm>
            <a:off x="9596790" y="2590916"/>
            <a:ext cx="1466850" cy="1466850"/>
          </a:xfrm>
          <a:prstGeom prst="rect">
            <a:avLst/>
          </a:prstGeom>
        </p:spPr>
      </p:pic>
      <p:sp>
        <p:nvSpPr>
          <p:cNvPr id="65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6174" y="2747062"/>
            <a:ext cx="5305425" cy="34624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Performance Evaluation</a:t>
            </a:r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65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6174" y="3215501"/>
            <a:ext cx="530542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buClr>
                <a:schemeClr val="bg2">
                  <a:lumMod val="10000"/>
                </a:schemeClr>
              </a:buClr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Tracks staff or department performance through customer feedback sentiment.</a:t>
            </a:r>
          </a:p>
        </p:txBody>
      </p:sp>
      <p:pic>
        <p:nvPicPr>
          <p:cNvPr id="6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">
            <a:alphaModFix/>
          </a:blip>
          <a:stretch/>
        </p:blipFill>
        <p:spPr>
          <a:xfrm>
            <a:off x="1552269" y="4482074"/>
            <a:ext cx="7639050" cy="1823228"/>
          </a:xfrm>
          <a:prstGeom prst="rect">
            <a:avLst/>
          </a:prstGeom>
        </p:spPr>
      </p:pic>
      <p:pic>
        <p:nvPicPr>
          <p:cNvPr id="657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17">
            <a:alphaModFix/>
          </a:blip>
          <a:stretch/>
        </p:blipFill>
        <p:spPr>
          <a:xfrm>
            <a:off x="1706432" y="4606512"/>
            <a:ext cx="1466850" cy="1466850"/>
          </a:xfrm>
          <a:prstGeom prst="rect">
            <a:avLst/>
          </a:prstGeom>
        </p:spPr>
      </p:pic>
      <p:sp>
        <p:nvSpPr>
          <p:cNvPr id="65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624814" y="4786873"/>
            <a:ext cx="5305425" cy="34624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Competitor Analysis</a:t>
            </a:r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661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624814" y="5255408"/>
            <a:ext cx="530542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buClr>
                <a:schemeClr val="bg2">
                  <a:lumMod val="10000"/>
                </a:schemeClr>
              </a:buClr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Analyzes competitor reviews to discover industry trends and service gaps.</a:t>
            </a:r>
          </a:p>
        </p:txBody>
      </p:sp>
      <p:pic>
        <p:nvPicPr>
          <p:cNvPr id="6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8">
            <a:alphaModFix/>
          </a:blip>
          <a:stretch/>
        </p:blipFill>
        <p:spPr>
          <a:xfrm>
            <a:off x="9381771" y="4482075"/>
            <a:ext cx="7639050" cy="1823228"/>
          </a:xfrm>
          <a:prstGeom prst="rect">
            <a:avLst/>
          </a:prstGeom>
        </p:spPr>
      </p:pic>
      <p:sp>
        <p:nvSpPr>
          <p:cNvPr id="66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4316" y="4786874"/>
            <a:ext cx="5305425" cy="34624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Reputation Management</a:t>
            </a:r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66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54316" y="5255409"/>
            <a:ext cx="530542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buClr>
                <a:schemeClr val="bg2">
                  <a:lumMod val="10000"/>
                </a:schemeClr>
              </a:buClr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Helps hotels quickly respond to negative feedback to maintain online reputation.</a:t>
            </a:r>
          </a:p>
        </p:txBody>
      </p:sp>
      <p:sp>
        <p:nvSpPr>
          <p:cNvPr id="671" name="Click here to edit title-45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4077" y="222042"/>
            <a:ext cx="15516225" cy="120706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Real-World Applications</a:t>
            </a:r>
          </a:p>
        </p:txBody>
      </p:sp>
      <p:pic>
        <p:nvPicPr>
          <p:cNvPr id="2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19">
            <a:alphaModFix/>
          </a:blip>
          <a:stretch/>
        </p:blipFill>
        <p:spPr>
          <a:xfrm>
            <a:off x="1756113" y="2541090"/>
            <a:ext cx="1466850" cy="1466850"/>
          </a:xfrm>
          <a:prstGeom prst="rect">
            <a:avLst/>
          </a:prstGeom>
        </p:spPr>
      </p:pic>
      <p:pic>
        <p:nvPicPr>
          <p:cNvPr id="7" name="Rect">
            <a:extLst>
              <a:ext uri="{FF2B5EF4-FFF2-40B4-BE49-F238E27FC236}">
                <a16:creationId xmlns:a16="http://schemas.microsoft.com/office/drawing/2014/main" id="{61424417-E0EA-2327-0D06-A7CF79380E1D}"/>
              </a:ext>
            </a:extLst>
          </p:cNvPr>
          <p:cNvPicPr>
            <a:picLocks noChangeAspect="1"/>
          </p:cNvPicPr>
          <p:nvPr/>
        </p:nvPicPr>
        <p:blipFill rotWithShape="1">
          <a:blip r:embed="rId214">
            <a:alphaModFix/>
          </a:blip>
          <a:stretch/>
        </p:blipFill>
        <p:spPr>
          <a:xfrm>
            <a:off x="1552269" y="6485663"/>
            <a:ext cx="7639050" cy="1811884"/>
          </a:xfrm>
          <a:prstGeom prst="rect">
            <a:avLst/>
          </a:prstGeom>
        </p:spPr>
      </p:pic>
      <p:sp>
        <p:nvSpPr>
          <p:cNvPr id="9" name="Primary Heading-1">
            <a:extLst>
              <a:ext uri="{FF2B5EF4-FFF2-40B4-BE49-F238E27FC236}">
                <a16:creationId xmlns:a16="http://schemas.microsoft.com/office/drawing/2014/main" id="{5D41098F-2FA5-0233-AB1A-EB541F9920A7}"/>
              </a:ext>
            </a:extLst>
          </p:cNvPr>
          <p:cNvSpPr txBox="1"/>
          <p:nvPr/>
        </p:nvSpPr>
        <p:spPr>
          <a:xfrm>
            <a:off x="3624814" y="6790486"/>
            <a:ext cx="5305425" cy="34624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Targeted Service Improvements</a:t>
            </a:r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10" name="Description of a primary heading-1">
            <a:extLst>
              <a:ext uri="{FF2B5EF4-FFF2-40B4-BE49-F238E27FC236}">
                <a16:creationId xmlns:a16="http://schemas.microsoft.com/office/drawing/2014/main" id="{47709006-E791-D066-D654-C983161DD3D3}"/>
              </a:ext>
            </a:extLst>
          </p:cNvPr>
          <p:cNvSpPr txBox="1"/>
          <p:nvPr/>
        </p:nvSpPr>
        <p:spPr>
          <a:xfrm>
            <a:off x="3624814" y="7258925"/>
            <a:ext cx="530542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buClr>
                <a:schemeClr val="bg2">
                  <a:lumMod val="10000"/>
                </a:schemeClr>
              </a:buClr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Identifies areas like food, service, or cleanliness that guests often mention.</a:t>
            </a:r>
          </a:p>
        </p:txBody>
      </p:sp>
      <p:pic>
        <p:nvPicPr>
          <p:cNvPr id="13" name="Rect">
            <a:extLst>
              <a:ext uri="{FF2B5EF4-FFF2-40B4-BE49-F238E27FC236}">
                <a16:creationId xmlns:a16="http://schemas.microsoft.com/office/drawing/2014/main" id="{2812F1E7-310C-E9B5-5E69-6FD7B69B3989}"/>
              </a:ext>
            </a:extLst>
          </p:cNvPr>
          <p:cNvPicPr>
            <a:picLocks noChangeAspect="1"/>
          </p:cNvPicPr>
          <p:nvPr/>
        </p:nvPicPr>
        <p:blipFill rotWithShape="1">
          <a:blip r:embed="rId213">
            <a:alphaModFix/>
          </a:blip>
          <a:stretch/>
        </p:blipFill>
        <p:spPr>
          <a:xfrm>
            <a:off x="9431254" y="6453990"/>
            <a:ext cx="7639050" cy="1823227"/>
          </a:xfrm>
          <a:prstGeom prst="rect">
            <a:avLst/>
          </a:prstGeom>
        </p:spPr>
      </p:pic>
      <p:sp>
        <p:nvSpPr>
          <p:cNvPr id="14" name="Primary Heading-0">
            <a:extLst>
              <a:ext uri="{FF2B5EF4-FFF2-40B4-BE49-F238E27FC236}">
                <a16:creationId xmlns:a16="http://schemas.microsoft.com/office/drawing/2014/main" id="{B703774C-C5FB-227D-3A8A-038F4DDAF6F2}"/>
              </a:ext>
            </a:extLst>
          </p:cNvPr>
          <p:cNvSpPr txBox="1"/>
          <p:nvPr/>
        </p:nvSpPr>
        <p:spPr>
          <a:xfrm>
            <a:off x="11503799" y="6758813"/>
            <a:ext cx="5305425" cy="34624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Personalized Marketing Campaigns</a:t>
            </a:r>
            <a:endParaRPr lang="en-US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15" name="Description of a primary heading-0">
            <a:extLst>
              <a:ext uri="{FF2B5EF4-FFF2-40B4-BE49-F238E27FC236}">
                <a16:creationId xmlns:a16="http://schemas.microsoft.com/office/drawing/2014/main" id="{08A0F06F-B4DB-ACC5-35D9-E24CE077EFE5}"/>
              </a:ext>
            </a:extLst>
          </p:cNvPr>
          <p:cNvSpPr txBox="1"/>
          <p:nvPr/>
        </p:nvSpPr>
        <p:spPr>
          <a:xfrm>
            <a:off x="11503799" y="7227252"/>
            <a:ext cx="5305425" cy="61555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buClr>
                <a:schemeClr val="bg2">
                  <a:lumMod val="10000"/>
                </a:schemeClr>
              </a:buClr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Tailor promotions based on guest preferences and sentiments.</a:t>
            </a:r>
          </a:p>
        </p:txBody>
      </p:sp>
      <p:pic>
        <p:nvPicPr>
          <p:cNvPr id="597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">
            <a:alphaModFix/>
            <a:extLst>
              <a:ext uri="{356BF7A5-BD60-4AC0-82DD-118B538FD311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83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9381771" y="6451278"/>
            <a:ext cx="2002343" cy="1844523"/>
          </a:xfrm>
          <a:prstGeom prst="rect">
            <a:avLst/>
          </a:prstGeom>
        </p:spPr>
      </p:pic>
      <p:pic>
        <p:nvPicPr>
          <p:cNvPr id="18" name="imageNode3">
            <a:extLst>
              <a:ext uri="{FF2B5EF4-FFF2-40B4-BE49-F238E27FC236}">
                <a16:creationId xmlns:a16="http://schemas.microsoft.com/office/drawing/2014/main" id="{33A749E9-41C0-F538-113F-20AAB3C344A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21">
            <a:alphaModFix/>
          </a:blip>
          <a:stretch/>
        </p:blipFill>
        <p:spPr>
          <a:xfrm>
            <a:off x="1573749" y="6572722"/>
            <a:ext cx="1649214" cy="1649214"/>
          </a:xfrm>
          <a:prstGeom prst="rect">
            <a:avLst/>
          </a:prstGeom>
        </p:spPr>
      </p:pic>
      <p:pic>
        <p:nvPicPr>
          <p:cNvPr id="22" name="imageNode2">
            <a:extLst>
              <a:ext uri="{FF2B5EF4-FFF2-40B4-BE49-F238E27FC236}">
                <a16:creationId xmlns:a16="http://schemas.microsoft.com/office/drawing/2014/main" id="{B05BD25C-418E-D209-F3DF-A0023346469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22">
            <a:alphaModFix/>
          </a:blip>
          <a:stretch/>
        </p:blipFill>
        <p:spPr>
          <a:xfrm>
            <a:off x="9524325" y="4678419"/>
            <a:ext cx="1715141" cy="17151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14" dur="1200" fill="hold"/>
                                        <p:tgtEl>
                                          <p:spTgt spid="6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9" dur="1200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24" dur="1200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293978 L 0 -2.3170753E-06 E" pathEditMode="relative" ptsTypes="">
                                      <p:cBhvr>
                                        <p:cTn id="29" dur="1000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02778E-6 0.04629 L 4.02778E-6 3.7037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02778E-6 0.04629 L 4.02778E-6 1.7284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 0.046293978 L 0 -2.3170753E-06 E" pathEditMode="relative" ptsTypes="">
                                      <p:cBhvr>
                                        <p:cTn id="44" dur="1000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 0.04629802 L 0 1.723678E-06 E" pathEditMode="relative" ptsTypes="">
                                      <p:cBhvr>
                                        <p:cTn id="49" dur="1000" fill="hold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9.72222E-7 0.04629 L -9.72222E-7 3.7037E-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-9.72222E-7 0.04629 L -9.72222E-7 1.7284E-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64" dur="1000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 0.046300367 L 0 4.0690106E-06 E" pathEditMode="relative" ptsTypes="">
                                      <p:cBhvr>
                                        <p:cTn id="69" dur="1000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8.33333E-7 0.0463 L 8.33333E-7 1.23457E-6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8.33333E-7 0.0463 L 8.33333E-7 -7.40741E-7 " pathEditMode="relative" rAng="0" ptsTypes="AA">
                                      <p:cBhvr>
                                        <p:cTn id="79" dur="1000" fill="hold"/>
                                        <p:tgtEl>
                                          <p:spTgt spid="6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84" dur="1000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-4.16667E-6 0.0463 L -4.16667E-6 1.23457E-6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-4.16667E-6 0.0463 L -4.16667E-6 -7.40741E-7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3.19444E-6 0.04629 L -3.19444E-6 3.08642E-6 " pathEditMode="relative" rAng="0" ptsTypes="AA">
                                      <p:cBhvr>
                                        <p:cTn id="99" dur="600" fill="hold"/>
                                        <p:tgtEl>
                                          <p:spTgt spid="6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29802 L 0 1.723678E-06 E" pathEditMode="relative" ptsTypes="">
                                      <p:cBhvr>
                                        <p:cTn id="10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 0.046293978 L 0 -2.3170753E-06 E" pathEditMode="relative" ptsTypes="">
                                      <p:cBhvr>
                                        <p:cTn id="10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8.33333E-7 0.0463 L 8.33333E-7 -1.85185E-6 " pathEditMode="relative" rAng="0" ptsTypes="AA">
                                      <p:cBhvr>
                                        <p:cTn id="1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8.33333E-7 0.0463 L 8.33333E-7 -3.82716E-6 " pathEditMode="relative" rAng="0" ptsTypes="AA">
                                      <p:cBhvr>
                                        <p:cTn id="1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293978 L 0 -2.3170753E-06 E" pathEditMode="relative" ptsTypes="">
                                      <p:cBhvr>
                                        <p:cTn id="1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86111E-6 0.0463 L 4.86111E-6 2.46914E-7 " pathEditMode="relative" rAng="0" ptsTypes="AA">
                                      <p:cBhvr>
                                        <p:cTn id="1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86111E-6 0.04629 L 4.86111E-6 2.59259E-6 " pathEditMode="relative" rAng="0" ptsTypes="AA">
                                      <p:cBhvr>
                                        <p:cTn id="1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64" presetClass="path" presetSubtype="0" accel="50000" decel="5000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-1.9709269E-06 0.046299744 L -1.9709269E-06 3.447356E-06 E" pathEditMode="relative" ptsTypes="">
                                      <p:cBhvr>
                                        <p:cTn id="1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10" presetClass="entr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64" presetClass="path" presetSubtype="0" accel="50000" decel="5000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-1.9391377E-06 0.046299744 L -1.9391377E-06 3.447356E-06 E" pathEditMode="relative" ptsTypes="">
                                      <p:cBhvr>
                                        <p:cTn id="1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" grpId="0"/>
      <p:bldP spid="633" grpId="0"/>
      <p:bldP spid="635" grpId="0"/>
      <p:bldP spid="637" grpId="0"/>
      <p:bldP spid="639" grpId="0"/>
      <p:bldP spid="643" grpId="0"/>
      <p:bldP spid="645" grpId="0"/>
      <p:bldP spid="647" grpId="0"/>
      <p:bldP spid="649" grpId="0"/>
      <p:bldP spid="651" grpId="0"/>
      <p:bldP spid="653" grpId="0"/>
      <p:bldP spid="655" grpId="0"/>
      <p:bldP spid="657" grpId="0"/>
      <p:bldP spid="659" grpId="0"/>
      <p:bldP spid="661" grpId="0"/>
      <p:bldP spid="663" grpId="0"/>
      <p:bldP spid="667" grpId="0"/>
      <p:bldP spid="669" grpId="0"/>
      <p:bldP spid="671" grpId="0"/>
      <p:bldP spid="2" grpId="0"/>
      <p:bldP spid="7" grpId="0"/>
      <p:bldP spid="9" grpId="0"/>
      <p:bldP spid="10" grpId="0"/>
      <p:bldP spid="13" grpId="0"/>
      <p:bldP spid="14" grpId="0"/>
      <p:bldP spid="15" grpId="0"/>
      <p:bldP spid="597" grpId="0"/>
      <p:bldP spid="18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layoutShapeInnerChild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2E72EA-C5F0-4DB8-B6ED-E46A1AE6294C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324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705233" cy="16063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0C3A45-175E-80EE-1F5B-CD6984186482}"/>
              </a:ext>
            </a:extLst>
          </p:cNvPr>
          <p:cNvPicPr>
            <a:picLocks noChangeAspect="1"/>
          </p:cNvPicPr>
          <p:nvPr/>
        </p:nvPicPr>
        <p:blipFill>
          <a:blip r:embed="rId325"/>
          <a:srcRect l="3606" t="3303" r="4255" b="3264"/>
          <a:stretch/>
        </p:blipFill>
        <p:spPr>
          <a:xfrm>
            <a:off x="-140253" y="1695108"/>
            <a:ext cx="12707074" cy="6271752"/>
          </a:xfrm>
          <a:prstGeom prst="rect">
            <a:avLst/>
          </a:prstGeom>
        </p:spPr>
      </p:pic>
      <p:pic>
        <p:nvPicPr>
          <p:cNvPr id="8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6">
            <a:alphaModFix/>
          </a:blip>
          <a:stretch/>
        </p:blipFill>
        <p:spPr>
          <a:xfrm>
            <a:off x="6213284" y="-686339"/>
            <a:ext cx="6429375" cy="8915400"/>
          </a:xfrm>
          <a:prstGeom prst="rect">
            <a:avLst/>
          </a:prstGeom>
          <a:effectLst>
            <a:outerShdw blurRad="28575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336130-B6F9-DEC6-7733-0E27431B1C65}"/>
              </a:ext>
            </a:extLst>
          </p:cNvPr>
          <p:cNvSpPr txBox="1"/>
          <p:nvPr/>
        </p:nvSpPr>
        <p:spPr>
          <a:xfrm>
            <a:off x="5235678" y="7895970"/>
            <a:ext cx="6177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“Check out my work on </a:t>
            </a:r>
            <a:r>
              <a:rPr lang="en-US" sz="2800" u="sng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  <a:hlinkClick r:id="rId3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28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!”</a:t>
            </a:r>
          </a:p>
        </p:txBody>
      </p:sp>
      <p:sp>
        <p:nvSpPr>
          <p:cNvPr id="2" name="TextBox 1">
            <a:hlinkClick r:id="rId328"/>
            <a:extLst>
              <a:ext uri="{FF2B5EF4-FFF2-40B4-BE49-F238E27FC236}">
                <a16:creationId xmlns:a16="http://schemas.microsoft.com/office/drawing/2014/main" id="{E371B560-A845-BB68-BDC5-0B51B36078CD}"/>
              </a:ext>
            </a:extLst>
          </p:cNvPr>
          <p:cNvSpPr txBox="1"/>
          <p:nvPr/>
        </p:nvSpPr>
        <p:spPr>
          <a:xfrm>
            <a:off x="5310446" y="8491262"/>
            <a:ext cx="6207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“Live App Check   </a:t>
            </a:r>
            <a:r>
              <a:rPr lang="en-US" sz="2800" u="sng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Hotel</a:t>
            </a:r>
            <a:r>
              <a:rPr lang="en-US" sz="2800" u="sng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 Review</a:t>
            </a:r>
            <a:r>
              <a:rPr lang="en-US" sz="28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  <a:cs typeface="Arial" panose="020B0604020202020204" pitchFamily="34" charset="0"/>
              </a:rPr>
              <a:t>!”</a:t>
            </a:r>
          </a:p>
        </p:txBody>
      </p:sp>
      <p:pic>
        <p:nvPicPr>
          <p:cNvPr id="835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29">
            <a:alphaModFix/>
          </a:blip>
          <a:stretch/>
        </p:blipFill>
        <p:spPr>
          <a:xfrm>
            <a:off x="11730023" y="562232"/>
            <a:ext cx="6429375" cy="8915400"/>
          </a:xfrm>
          <a:prstGeom prst="rect">
            <a:avLst/>
          </a:prstGeom>
          <a:effectLst>
            <a:outerShdw blurRad="28575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837" name="layoutShapeInnerChild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0">
            <a:alphaModFix/>
            <a:extLst>
              <a:ext uri="{5EA00644-136D-42FE-A656-2B0828DF0B4E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331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2363450" y="7305675"/>
            <a:ext cx="40957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push dir="u"/>
      </p:transition>
    </mc:Choice>
    <mc:Fallback xmlns="">
      <p:transition spd="med" advClick="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2.6067098E-06 0.046296295 L 2.6067098E-06 0 E" pathEditMode="relative" ptsTypes="">
                                      <p:cBhvr>
                                        <p:cTn id="19" dur="600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24" dur="1200" fill="hold"/>
                                        <p:tgtEl>
                                          <p:spTgt spid="8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7" grpId="0"/>
      <p:bldP spid="833" grpId="0"/>
      <p:bldP spid="835" grpId="0"/>
      <p:bldP spid="837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485</TotalTime>
  <Words>810</Words>
  <Application>Microsoft Office PowerPoint</Application>
  <PresentationFormat>Custom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Noto Serif SemiBold</vt:lpstr>
      <vt:lpstr>Calibri Light</vt:lpstr>
      <vt:lpstr>Arial</vt:lpstr>
      <vt:lpstr>Wingdings</vt:lpstr>
      <vt:lpstr>Arial Rounded MT Bold</vt:lpstr>
      <vt:lpstr>IBM Plex Sans</vt:lpstr>
      <vt:lpstr>Calibri</vt:lpstr>
      <vt:lpstr>IBM Plex Serif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 2.0.26.0, docId: Console, orderId: Console</dc:title>
  <dc:creator>Presentations.AI Exporter</dc:creator>
  <cp:lastModifiedBy>Ashish Singh</cp:lastModifiedBy>
  <cp:revision>55</cp:revision>
  <dcterms:created xsi:type="dcterms:W3CDTF">2024-12-04T05:07:27Z</dcterms:created>
  <dcterms:modified xsi:type="dcterms:W3CDTF">2025-04-25T09:55:34Z</dcterms:modified>
</cp:coreProperties>
</file>